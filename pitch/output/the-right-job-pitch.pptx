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b48edaf73141d5" /><Relationship Type="http://schemas.openxmlformats.org/officeDocument/2006/relationships/extended-properties" Target="/docProps/app.xml" Id="R3b77f001acdd4f15" /><Relationship Type="http://schemas.openxmlformats.org/officeDocument/2006/relationships/officeDocument" Target="/ppt/presentation.xml" Id="R62915fa07931451a" /></Relationships>
</file>

<file path=ppt/presentation.xml><?xml version="1.0" encoding="utf-8"?>
<p:presentation xmlns:p="http://schemas.openxmlformats.org/presentationml/2006/main">
  <p:sldMasterIdLst>
    <p:sldMasterId xmlns:r="http://schemas.openxmlformats.org/officeDocument/2006/relationships" id="2147483648" r:id="R5c3c144b92d64962"/>
  </p:sldMasterIdLst>
  <p:notesMasterIdLst>
    <p:notesMasterId xmlns:r="http://schemas.openxmlformats.org/officeDocument/2006/relationships" r:id="Re72afd6c49184cbd"/>
  </p:notesMasterIdLst>
  <p:sldIdLst>
    <p:sldId xmlns:r="http://schemas.openxmlformats.org/officeDocument/2006/relationships" id="256" r:id="Rc752f417c0f84c77"/>
    <p:sldId xmlns:r="http://schemas.openxmlformats.org/officeDocument/2006/relationships" id="257" r:id="Rf773b53a02e94f48"/>
    <p:sldId xmlns:r="http://schemas.openxmlformats.org/officeDocument/2006/relationships" id="258" r:id="R59d78745e2cc4ec6"/>
    <p:sldId xmlns:r="http://schemas.openxmlformats.org/officeDocument/2006/relationships" id="259" r:id="R7f315ad568ef44a5"/>
    <p:sldId xmlns:r="http://schemas.openxmlformats.org/officeDocument/2006/relationships" id="260" r:id="R1f15d4d9b56e4c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9c87d5391c42c1" /><Relationship Type="http://schemas.openxmlformats.org/officeDocument/2006/relationships/slideMaster" Target="/ppt/slideMasters/slideMaster1.xml" Id="R5c3c144b92d64962" /><Relationship Type="http://schemas.openxmlformats.org/officeDocument/2006/relationships/notesMaster" Target="/ppt/notesMasters/notesMaster1.xml" Id="Re72afd6c49184cbd" /><Relationship Type="http://schemas.openxmlformats.org/officeDocument/2006/relationships/presProps" Target="/ppt/presProps.xml" Id="Re30821656b9345be" /><Relationship Type="http://schemas.openxmlformats.org/officeDocument/2006/relationships/tableStyles" Target="/ppt/tableStyles.xml" Id="Ra828fb140e0943cc" /><Relationship Type="http://schemas.openxmlformats.org/officeDocument/2006/relationships/slide" Target="/ppt/slides/slide1.xml" Id="Rc752f417c0f84c77" /><Relationship Type="http://schemas.openxmlformats.org/officeDocument/2006/relationships/slide" Target="/ppt/slides/slide2.xml" Id="Rf773b53a02e94f48" /><Relationship Type="http://schemas.openxmlformats.org/officeDocument/2006/relationships/slide" Target="/ppt/slides/slide3.xml" Id="R59d78745e2cc4ec6" /><Relationship Type="http://schemas.openxmlformats.org/officeDocument/2006/relationships/slide" Target="/ppt/slides/slide4.xml" Id="R7f315ad568ef44a5" /><Relationship Type="http://schemas.openxmlformats.org/officeDocument/2006/relationships/slide" Target="/ppt/slides/slide5.xml" Id="R1f15d4d9b56e4c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aa83eef73744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3c149ac55d472b" /><Relationship Type="http://schemas.openxmlformats.org/officeDocument/2006/relationships/notesMaster" Target="/ppt/notesMasters/notesMaster1.xml" Id="R5be35f2036e245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79c7ea822c4678" /><Relationship Type="http://schemas.openxmlformats.org/officeDocument/2006/relationships/notesMaster" Target="/ppt/notesMasters/notesMaster1.xml" Id="R198b9ea89d3c4e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c0f92ee7ff46b1" /><Relationship Type="http://schemas.openxmlformats.org/officeDocument/2006/relationships/notesMaster" Target="/ppt/notesMasters/notesMaster1.xml" Id="R231acbb54b1845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22869160ee4554" /><Relationship Type="http://schemas.openxmlformats.org/officeDocument/2006/relationships/notesMaster" Target="/ppt/notesMasters/notesMaster1.xml" Id="Rf9d417a3e79742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7d5b6472fa4c02" /><Relationship Type="http://schemas.openxmlformats.org/officeDocument/2006/relationships/notesMaster" Target="/ppt/notesMasters/notesMaster1.xml" Id="Rb7178cd94e8547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35 seconds]</a:t>
            </a:r>
          </a:p>
          <a:p xmlns:a="http://schemas.openxmlformats.org/drawingml/2006/main">
            <a:r>
              <a:t>Every new role brings the same work. You check the location, the seniority, and whether the work fits. You repeat facts from your resume. And when a shortlist misses the mark, you explain the same preference again. The time goes into correcting and preparing, before you even get to a conversation. We want the next search to benefit from the decisions you already made.</a:t>
            </a:r>
          </a:p>
          <a:p xmlns:a="http://schemas.openxmlformats.org/drawingml/2006/main">
            <a:r>
              <a:t/>
            </a:r>
          </a:p>
          <a:p xmlns:a="http://schemas.openxmlformats.org/drawingml/2006/main">
            <a:r>
              <a:t>Source: DESIGN.md, sections 2 and 4; agent/rank.py, agent/feedback.py, agent/pack.py, memory/claims.py, mcp_server/rote.py. Product benefits are the design intent, not measured improvement claims. Sponsor architecture describes intended responsibilities; live end-to-end integration must be demonstrated with actual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[0:35–0:50 · 15 seconds]</a:t>
            </a:r>
          </a:p>
          <a:p xmlns:a="http://schemas.openxmlformats.org/drawingml/2006/main">
            <a:r>
              <a:t>This is the right job: a job-search agent that learns from your decisions. Tell it what matters, correct it when needed, and let that history improve the next shortlist.</a:t>
            </a:r>
          </a:p>
          <a:p xmlns:a="http://schemas.openxmlformats.org/drawingml/2006/main">
            <a:r>
              <a:t/>
            </a:r>
          </a:p>
          <a:p xmlns:a="http://schemas.openxmlformats.org/drawingml/2006/main">
            <a:r>
              <a:t>Source: DESIGN.md, sections 2 and 4; agent/rank.py, agent/feedback.py, agent/pack.py, memory/claims.py, mcp_server/rote.py. Product benefits are the design intent, not measured improvement claims. Sponsor architecture describes intended responsibilities; live end-to-end integration must be demonstrated with actual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[0:50–1:35 · 45 seconds]</a:t>
            </a:r>
          </a:p>
          <a:p xmlns:a="http://schemas.openxmlformats.org/drawingml/2006/main">
            <a:r>
              <a:t>The value is a better next search with less repeated work. Start with your resume and preferences. The agent ranks real jobs and explains the fit. When you skip a role, your reason can become a proposed preference, but you confirm it before it changes the ranking. When you choose a role, the application pack reuses known answers and cites verified experience. If a required fact is missing, it asks instead of inventing it. You stay in control of the final application.</a:t>
            </a:r>
          </a:p>
          <a:p xmlns:a="http://schemas.openxmlformats.org/drawingml/2006/main">
            <a:r>
              <a:t/>
            </a:r>
          </a:p>
          <a:p xmlns:a="http://schemas.openxmlformats.org/drawingml/2006/main">
            <a:r>
              <a:t>Source: DESIGN.md, sections 2 and 4; agent/rank.py, agent/feedback.py, agent/pack.py, memory/claims.py, mcp_server/rote.py. Product benefits are the design intent, not measured improvement claims. Sponsor architecture describes intended responsibilities; live end-to-end integration must be demonstrated with actual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[1:35–2:30 · 55 seconds]</a:t>
            </a:r>
          </a:p>
          <a:p xmlns:a="http://schemas.openxmlformats.org/drawingml/2006/main">
            <a:r>
              <a:t>Each sponsor owns a specific part of the loop. Hotdata stores and queries the job corpus. Cognee turns resumes and feedback into structured context. HydraDB keeps candidate facts and decision history. RocketRide runs the workflow through our tools. Rote captures successful tool paths and replays the familiar steps; novel work still needs reasoning. Feedback goes back into memory for the next ranking. Snyk checks code and dependencies. In the demo, the proof is the actual ranking, remembered context, and execution trace.</a:t>
            </a:r>
          </a:p>
          <a:p xmlns:a="http://schemas.openxmlformats.org/drawingml/2006/main">
            <a:r>
              <a:t/>
            </a:r>
          </a:p>
          <a:p xmlns:a="http://schemas.openxmlformats.org/drawingml/2006/main">
            <a:r>
              <a:t>Source: DESIGN.md, sections 2 and 4; agent/rank.py, agent/feedback.py, agent/pack.py, memory/claims.py, mcp_server/rote.py. Product benefits are the design intent, not measured improvement claims. Sponsor architecture describes intended responsibilities; live end-to-end integration must be demonstrated with actual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[2:30–4:00 · 90 seconds]</a:t>
            </a:r>
          </a:p>
          <a:p xmlns:a="http://schemas.openxmlformats.org/drawingml/2006/main">
            <a:r>
              <a:t>Switch to the dashboard. Spend 20 seconds on a shortlist and its match reasons, 25 seconds on feedback and a confirmed preference, 25 seconds on an application pack with reused answers and a flagged missing fact, and 20 seconds on the execution trace and observed run metrics. If the dashboard says “Example numbers, not live yet”, explicitly identify the chart as illustrative. Do not describe its sample curve as a measured result. Close: the right job remembers what matters, so your next search starts further ahead.</a:t>
            </a:r>
          </a:p>
          <a:p xmlns:a="http://schemas.openxmlformats.org/drawingml/2006/main">
            <a:r>
              <a:t/>
            </a:r>
          </a:p>
          <a:p xmlns:a="http://schemas.openxmlformats.org/drawingml/2006/main">
            <a:r>
              <a:t>Source: DESIGN.md, sections 2 and 4; agent/rank.py, agent/feedback.py, agent/pack.py, memory/claims.py, mcp_server/rote.py. Product benefits are the design intent, not measured improvement claims. Sponsor architecture describes intended responsibilities; live end-to-end integration must be demonstrated with actual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f09f1b216c4cd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b6e9db918b4481" /><Relationship Type="http://schemas.openxmlformats.org/officeDocument/2006/relationships/slideLayout" Target="/ppt/slideLayouts/slideLayout1.xml" Id="Rbeb1aa58138e42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b1aa58138e42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bdc3e03dbc24009" /><Relationship Type="http://schemas.openxmlformats.org/officeDocument/2006/relationships/notesSlide" Target="/ppt/notesSlides/notesSlide1.xml" Id="Rbab43df0139141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1fd48f3f434b73" /><Relationship Type="http://schemas.openxmlformats.org/officeDocument/2006/relationships/notesSlide" Target="/ppt/notesSlides/notesSlide2.xml" Id="R137df95f84e74b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43efead72342a1" /><Relationship Type="http://schemas.openxmlformats.org/officeDocument/2006/relationships/notesSlide" Target="/ppt/notesSlides/notesSlide3.xml" Id="R3c7362d1eda649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7373ff28324ff1" /><Relationship Type="http://schemas.openxmlformats.org/officeDocument/2006/relationships/notesSlide" Target="/ppt/notesSlides/notesSlide4.xml" Id="R0b5cd1e9e04e42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65f8446856244b2" /><Relationship Type="http://schemas.openxmlformats.org/officeDocument/2006/relationships/notesSlide" Target="/ppt/notesSlides/notesSlide5.xml" Id="Rc2b0dd0965294053" /></Relationships>
</file>

<file path=ppt/slides/slide1.xml><?xml version="1.0" encoding="utf-8"?>
<p:sld xmlns:p="http://schemas.openxmlformats.org/presentationml/2006/main">
  <p:cSld>
    <p:bg>
      <p:bgPr>
        <a:solidFill xmlns:a="http://schemas.openxmlformats.org/drawingml/2006/main">
          <a:srgbClr val="EFFB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B59C3D-8C6F-4CEA-A1B0-FD1B3A3159E4}"/>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3344"/>
                </a:solidFill>
                <a:latin typeface="Arial"/>
                <a:ea typeface="Arial"/>
                <a:cs typeface="Arial"/>
              </a:defRPr>
            </a:pPr>
            <a:r>
              <a:rPr sz="3600" b="1">
                <a:solidFill>
                  <a:srgbClr val="083344"/>
                </a:solidFill>
                <a:latin typeface="Arial"/>
                <a:ea typeface="Arial"/>
                <a:cs typeface="Arial"/>
              </a:rPr>
              <a:t>Job search keeps repeating itself</a:t>
            </a:r>
          </a:p>
        </p:txBody>
      </p:sp>
      <p:sp>
        <p:nvSpPr>
          <p:cNvPr id="2" name="">
            <a:extLst xmlns:a="http://schemas.openxmlformats.org/drawingml/2006/main">
              <a:ext uri="{FF2B5EF4-FFF2-40B4-BE49-F238E27FC236}">
                <a16:creationId xmlns:a16="http://schemas.microsoft.com/office/drawing/2014/main" id="{59F89428-1910-454A-9368-28E273885DBA}"/>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365B66"/>
                </a:solidFill>
                <a:latin typeface="Arial"/>
                <a:ea typeface="Arial"/>
                <a:cs typeface="Arial"/>
              </a:defRPr>
            </a:pPr>
            <a:r>
              <a:rPr sz="1350" b="0">
                <a:solidFill>
                  <a:srgbClr val="365B66"/>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322B87FD-AC29-4D26-8D3D-B9ADB926C3C3}"/>
              </a:ext>
            </a:extLst>
          </p:cNvPr>
          <p:cNvSpPr>
            <a:spLocks xmlns:a="http://schemas.openxmlformats.org/drawingml/2006/main" noGrp="1"/>
          </p:cNvSpPr>
          <p:nvPr/>
        </p:nvSpPr>
        <p:spPr>
          <a:xfrm xmlns:a="http://schemas.openxmlformats.org/drawingml/2006/main">
            <a:off x="685800" y="2000250"/>
            <a:ext cx="10572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083344"/>
                </a:solidFill>
                <a:latin typeface="Arial"/>
                <a:ea typeface="Arial"/>
                <a:cs typeface="Arial"/>
              </a:defRPr>
            </a:pPr>
            <a:r>
              <a:rPr sz="4950" b="1">
                <a:solidFill>
                  <a:srgbClr val="083344"/>
                </a:solidFill>
                <a:latin typeface="Arial"/>
                <a:ea typeface="Arial"/>
                <a:cs typeface="Arial"/>
              </a:rPr>
              <a:t>“I already told you</a:t>
            </a:r>
          </a:p>
          <a:p xmlns:a="http://schemas.openxmlformats.org/drawingml/2006/main">
            <a:pPr>
              <a:defRPr sz="4950" b="1">
                <a:solidFill>
                  <a:srgbClr val="083344"/>
                </a:solidFill>
                <a:latin typeface="Arial"/>
                <a:ea typeface="Arial"/>
                <a:cs typeface="Arial"/>
              </a:defRPr>
            </a:pPr>
            <a:r>
              <a:rPr sz="4950" b="1">
                <a:solidFill>
                  <a:srgbClr val="083344"/>
                </a:solidFill>
                <a:latin typeface="Arial"/>
                <a:ea typeface="Arial"/>
                <a:cs typeface="Arial"/>
              </a:rPr>
              <a:t>why that role was wrong.”</a:t>
            </a:r>
          </a:p>
        </p:txBody>
      </p:sp>
      <p:sp>
        <p:nvSpPr>
          <p:cNvPr id="4" name="">
            <a:extLst xmlns:a="http://schemas.openxmlformats.org/drawingml/2006/main">
              <a:ext uri="{FF2B5EF4-FFF2-40B4-BE49-F238E27FC236}">
                <a16:creationId xmlns:a16="http://schemas.microsoft.com/office/drawing/2014/main" id="{67347879-7391-49C6-8928-FBAA8E1AD907}"/>
              </a:ext>
            </a:extLst>
          </p:cNvPr>
          <p:cNvSpPr>
            <a:spLocks xmlns:a="http://schemas.openxmlformats.org/drawingml/2006/main" noGrp="1"/>
          </p:cNvSpPr>
          <p:nvPr/>
        </p:nvSpPr>
        <p:spPr>
          <a:xfrm xmlns:a="http://schemas.openxmlformats.org/drawingml/2006/main">
            <a:off x="723900" y="46958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E7490"/>
                </a:solidFill>
                <a:latin typeface="Arial"/>
                <a:ea typeface="Arial"/>
                <a:cs typeface="Arial"/>
              </a:defRPr>
            </a:pPr>
            <a:r>
              <a:rPr sz="2550" b="0">
                <a:solidFill>
                  <a:srgbClr val="0E7490"/>
                </a:solidFill>
                <a:latin typeface="Arial"/>
                <a:ea typeface="Arial"/>
                <a:cs typeface="Arial"/>
              </a:rPr>
              <a:t>Recheck the fit. Repeat your answers. Explain again.</a:t>
            </a:r>
          </a:p>
        </p:txBody>
      </p:sp>
    </p:spTree>
    <p:extLst>
      <p:ext uri="{BB962C8B-B14F-4D97-AF65-F5344CB8AC3E}">
        <p14:creationId xmlns:p14="http://schemas.microsoft.com/office/powerpoint/2010/main" val="1815686037"/>
      </p:ext>
    </p:extLst>
  </p:cSld>
</p:sld>
</file>

<file path=ppt/slides/slide2.xml><?xml version="1.0" encoding="utf-8"?>
<p:sld xmlns:p="http://schemas.openxmlformats.org/presentationml/2006/main">
  <p:cSld>
    <p:bg>
      <p:bgPr>
        <a:solidFill xmlns:a="http://schemas.openxmlformats.org/drawingml/2006/main">
          <a:srgbClr val="0623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D2D60E3-ED86-47B0-866F-7CDA982D87BE}"/>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7E8F9"/>
                </a:solidFill>
                <a:latin typeface="Arial"/>
                <a:ea typeface="Arial"/>
                <a:cs typeface="Arial"/>
              </a:defRPr>
            </a:pPr>
            <a:r>
              <a:rPr sz="1350" b="0">
                <a:solidFill>
                  <a:srgbClr val="67E8F9"/>
                </a:solidFill>
                <a:latin typeface="Arial"/>
                <a:ea typeface="Arial"/>
                <a:cs typeface="Arial"/>
              </a:rPr>
              <a:t>2 / 5</a:t>
            </a:r>
          </a:p>
        </p:txBody>
      </p:sp>
      <p:sp>
        <p:nvSpPr>
          <p:cNvPr id="2" name="">
            <a:extLst xmlns:a="http://schemas.openxmlformats.org/drawingml/2006/main">
              <a:ext uri="{FF2B5EF4-FFF2-40B4-BE49-F238E27FC236}">
                <a16:creationId xmlns:a16="http://schemas.microsoft.com/office/drawing/2014/main" id="{1313B757-092E-4FBB-B6F8-74F53817D163}"/>
              </a:ext>
            </a:extLst>
          </p:cNvPr>
          <p:cNvSpPr>
            <a:spLocks xmlns:a="http://schemas.openxmlformats.org/drawingml/2006/main" noGrp="1"/>
          </p:cNvSpPr>
          <p:nvPr/>
        </p:nvSpPr>
        <p:spPr>
          <a:xfrm xmlns:a="http://schemas.openxmlformats.org/drawingml/2006/main">
            <a:off x="685800" y="223837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67E8F9"/>
                </a:solidFill>
                <a:latin typeface="Arial"/>
                <a:ea typeface="Arial"/>
                <a:cs typeface="Arial"/>
              </a:defRPr>
            </a:pPr>
            <a:r>
              <a:rPr sz="9150" b="1">
                <a:solidFill>
                  <a:srgbClr val="67E8F9"/>
                </a:solidFill>
                <a:latin typeface="Arial"/>
                <a:ea typeface="Arial"/>
                <a:cs typeface="Arial"/>
              </a:rPr>
              <a:t>the right job</a:t>
            </a:r>
          </a:p>
        </p:txBody>
      </p:sp>
      <p:sp>
        <p:nvSpPr>
          <p:cNvPr id="3" name="">
            <a:extLst xmlns:a="http://schemas.openxmlformats.org/drawingml/2006/main">
              <a:ext uri="{FF2B5EF4-FFF2-40B4-BE49-F238E27FC236}">
                <a16:creationId xmlns:a16="http://schemas.microsoft.com/office/drawing/2014/main" id="{E9A76560-09CF-40CE-8F6C-56D56E1E751D}"/>
              </a:ext>
            </a:extLst>
          </p:cNvPr>
          <p:cNvSpPr>
            <a:spLocks xmlns:a="http://schemas.openxmlformats.org/drawingml/2006/main" noGrp="1"/>
          </p:cNvSpPr>
          <p:nvPr/>
        </p:nvSpPr>
        <p:spPr>
          <a:xfrm xmlns:a="http://schemas.openxmlformats.org/drawingml/2006/main">
            <a:off x="742950" y="41243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A job-search agent that learns from your decisions</a:t>
            </a:r>
          </a:p>
        </p:txBody>
      </p:sp>
    </p:spTree>
    <p:extLst>
      <p:ext uri="{BB962C8B-B14F-4D97-AF65-F5344CB8AC3E}">
        <p14:creationId xmlns:p14="http://schemas.microsoft.com/office/powerpoint/2010/main" val="1421764105"/>
      </p:ext>
    </p:extLst>
  </p:cSld>
</p:sld>
</file>

<file path=ppt/slides/slide3.xml><?xml version="1.0" encoding="utf-8"?>
<p:sld xmlns:p="http://schemas.openxmlformats.org/presentationml/2006/main">
  <p:cSld>
    <p:bg>
      <p:bgPr>
        <a:solidFill xmlns:a="http://schemas.openxmlformats.org/drawingml/2006/main">
          <a:srgbClr val="EF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643BCF-9AA5-48EE-9619-4102E232ED74}"/>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3344"/>
                </a:solidFill>
                <a:latin typeface="Arial"/>
                <a:ea typeface="Arial"/>
                <a:cs typeface="Arial"/>
              </a:defRPr>
            </a:pPr>
            <a:r>
              <a:rPr sz="3600" b="1">
                <a:solidFill>
                  <a:srgbClr val="083344"/>
                </a:solidFill>
                <a:latin typeface="Arial"/>
                <a:ea typeface="Arial"/>
                <a:cs typeface="Arial"/>
              </a:rPr>
              <a:t>A search that remembers you</a:t>
            </a:r>
          </a:p>
        </p:txBody>
      </p:sp>
      <p:sp>
        <p:nvSpPr>
          <p:cNvPr id="2" name="">
            <a:extLst xmlns:a="http://schemas.openxmlformats.org/drawingml/2006/main">
              <a:ext uri="{FF2B5EF4-FFF2-40B4-BE49-F238E27FC236}">
                <a16:creationId xmlns:a16="http://schemas.microsoft.com/office/drawing/2014/main" id="{B7D43FEF-77AA-4E8D-80EA-F99F35760CD3}"/>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365B66"/>
                </a:solidFill>
                <a:latin typeface="Arial"/>
                <a:ea typeface="Arial"/>
                <a:cs typeface="Arial"/>
              </a:defRPr>
            </a:pPr>
            <a:r>
              <a:rPr sz="1350" b="0">
                <a:solidFill>
                  <a:srgbClr val="365B66"/>
                </a:solidFill>
                <a:latin typeface="Arial"/>
                <a:ea typeface="Arial"/>
                <a:cs typeface="Arial"/>
              </a:rPr>
              <a:t>3 / 5</a:t>
            </a:r>
          </a:p>
        </p:txBody>
      </p:sp>
      <p:sp>
        <p:nvSpPr>
          <p:cNvPr id="3" name="">
            <a:extLst xmlns:a="http://schemas.openxmlformats.org/drawingml/2006/main">
              <a:ext uri="{FF2B5EF4-FFF2-40B4-BE49-F238E27FC236}">
                <a16:creationId xmlns:a16="http://schemas.microsoft.com/office/drawing/2014/main" id="{6FE13793-169B-4523-8280-65395CEFE23A}"/>
              </a:ext>
            </a:extLst>
          </p:cNvPr>
          <p:cNvSpPr>
            <a:spLocks xmlns:a="http://schemas.openxmlformats.org/drawingml/2006/main" noGrp="1"/>
          </p:cNvSpPr>
          <p:nvPr/>
        </p:nvSpPr>
        <p:spPr>
          <a:xfrm xmlns:a="http://schemas.openxmlformats.org/drawingml/2006/main">
            <a:off x="685800" y="2000250"/>
            <a:ext cx="457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E7490"/>
                </a:solidFill>
                <a:latin typeface="Arial"/>
                <a:ea typeface="Arial"/>
                <a:cs typeface="Arial"/>
              </a:defRPr>
            </a:pPr>
            <a:r>
              <a:rPr sz="3150" b="1">
                <a:solidFill>
                  <a:srgbClr val="0E7490"/>
                </a:solidFill>
                <a:latin typeface="Arial"/>
                <a:ea typeface="Arial"/>
                <a:cs typeface="Arial"/>
              </a:rPr>
              <a:t>Better shortlists</a:t>
            </a:r>
          </a:p>
        </p:txBody>
      </p:sp>
      <p:sp>
        <p:nvSpPr>
          <p:cNvPr id="4" name="">
            <a:extLst xmlns:a="http://schemas.openxmlformats.org/drawingml/2006/main">
              <a:ext uri="{FF2B5EF4-FFF2-40B4-BE49-F238E27FC236}">
                <a16:creationId xmlns:a16="http://schemas.microsoft.com/office/drawing/2014/main" id="{15A69DAA-37D2-42AC-B507-FF123D90B6BE}"/>
              </a:ext>
            </a:extLst>
          </p:cNvPr>
          <p:cNvSpPr>
            <a:spLocks xmlns:a="http://schemas.openxmlformats.org/drawingml/2006/main" noGrp="1"/>
          </p:cNvSpPr>
          <p:nvPr/>
        </p:nvSpPr>
        <p:spPr>
          <a:xfrm xmlns:a="http://schemas.openxmlformats.org/drawingml/2006/main">
            <a:off x="685800" y="2819400"/>
            <a:ext cx="4667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83344"/>
                </a:solidFill>
                <a:latin typeface="Arial"/>
                <a:ea typeface="Arial"/>
                <a:cs typeface="Arial"/>
              </a:defRPr>
            </a:pPr>
            <a:r>
              <a:rPr sz="2400" b="0">
                <a:solidFill>
                  <a:srgbClr val="083344"/>
                </a:solidFill>
                <a:latin typeface="Arial"/>
                <a:ea typeface="Arial"/>
                <a:cs typeface="Arial"/>
              </a:rPr>
              <a:t>Your confirmed preferences</a:t>
            </a:r>
          </a:p>
          <a:p xmlns:a="http://schemas.openxmlformats.org/drawingml/2006/main">
            <a:pPr>
              <a:defRPr sz="2400" b="0">
                <a:solidFill>
                  <a:srgbClr val="083344"/>
                </a:solidFill>
                <a:latin typeface="Arial"/>
                <a:ea typeface="Arial"/>
                <a:cs typeface="Arial"/>
              </a:defRPr>
            </a:pPr>
            <a:r>
              <a:rPr sz="2400" b="0">
                <a:solidFill>
                  <a:srgbClr val="083344"/>
                </a:solidFill>
                <a:latin typeface="Arial"/>
                <a:ea typeface="Arial"/>
                <a:cs typeface="Arial"/>
              </a:rPr>
              <a:t>shape the next ranking.</a:t>
            </a:r>
          </a:p>
        </p:txBody>
      </p:sp>
      <p:sp>
        <p:nvSpPr>
          <p:cNvPr id="5" name="">
            <a:extLst xmlns:a="http://schemas.openxmlformats.org/drawingml/2006/main">
              <a:ext uri="{FF2B5EF4-FFF2-40B4-BE49-F238E27FC236}">
                <a16:creationId xmlns:a16="http://schemas.microsoft.com/office/drawing/2014/main" id="{EA1729F1-77A6-4684-AFE6-A2615DE5DC0D}"/>
              </a:ext>
            </a:extLst>
          </p:cNvPr>
          <p:cNvSpPr>
            <a:spLocks xmlns:a="http://schemas.openxmlformats.org/drawingml/2006/main" noGrp="1"/>
          </p:cNvSpPr>
          <p:nvPr/>
        </p:nvSpPr>
        <p:spPr>
          <a:xfrm xmlns:a="http://schemas.openxmlformats.org/drawingml/2006/main">
            <a:off x="6496050" y="20002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E7490"/>
                </a:solidFill>
                <a:latin typeface="Arial"/>
                <a:ea typeface="Arial"/>
                <a:cs typeface="Arial"/>
              </a:defRPr>
            </a:pPr>
            <a:r>
              <a:rPr sz="3150" b="1">
                <a:solidFill>
                  <a:srgbClr val="0E7490"/>
                </a:solidFill>
                <a:latin typeface="Arial"/>
                <a:ea typeface="Arial"/>
                <a:cs typeface="Arial"/>
              </a:rPr>
              <a:t>Less repeated work</a:t>
            </a:r>
          </a:p>
        </p:txBody>
      </p:sp>
      <p:sp>
        <p:nvSpPr>
          <p:cNvPr id="6" name="">
            <a:extLst xmlns:a="http://schemas.openxmlformats.org/drawingml/2006/main">
              <a:ext uri="{FF2B5EF4-FFF2-40B4-BE49-F238E27FC236}">
                <a16:creationId xmlns:a16="http://schemas.microsoft.com/office/drawing/2014/main" id="{C473841D-2E75-4EBB-98D2-CD861373127B}"/>
              </a:ext>
            </a:extLst>
          </p:cNvPr>
          <p:cNvSpPr>
            <a:spLocks xmlns:a="http://schemas.openxmlformats.org/drawingml/2006/main" noGrp="1"/>
          </p:cNvSpPr>
          <p:nvPr/>
        </p:nvSpPr>
        <p:spPr>
          <a:xfrm xmlns:a="http://schemas.openxmlformats.org/drawingml/2006/main">
            <a:off x="6496050" y="281940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83344"/>
                </a:solidFill>
                <a:latin typeface="Arial"/>
                <a:ea typeface="Arial"/>
                <a:cs typeface="Arial"/>
              </a:defRPr>
            </a:pPr>
            <a:r>
              <a:rPr sz="2400" b="0">
                <a:solidFill>
                  <a:srgbClr val="083344"/>
                </a:solidFill>
                <a:latin typeface="Arial"/>
                <a:ea typeface="Arial"/>
                <a:cs typeface="Arial"/>
              </a:rPr>
              <a:t>Known answers and verified facts</a:t>
            </a:r>
          </a:p>
          <a:p xmlns:a="http://schemas.openxmlformats.org/drawingml/2006/main">
            <a:pPr>
              <a:defRPr sz="2400" b="0">
                <a:solidFill>
                  <a:srgbClr val="083344"/>
                </a:solidFill>
                <a:latin typeface="Arial"/>
                <a:ea typeface="Arial"/>
                <a:cs typeface="Arial"/>
              </a:defRPr>
            </a:pPr>
            <a:r>
              <a:rPr sz="2400" b="0">
                <a:solidFill>
                  <a:srgbClr val="083344"/>
                </a:solidFill>
                <a:latin typeface="Arial"/>
                <a:ea typeface="Arial"/>
                <a:cs typeface="Arial"/>
              </a:rPr>
              <a:t>carry into your application pack.</a:t>
            </a:r>
          </a:p>
        </p:txBody>
      </p:sp>
      <p:sp>
        <p:nvSpPr>
          <p:cNvPr id="7" name="">
            <a:extLst xmlns:a="http://schemas.openxmlformats.org/drawingml/2006/main">
              <a:ext uri="{FF2B5EF4-FFF2-40B4-BE49-F238E27FC236}">
                <a16:creationId xmlns:a16="http://schemas.microsoft.com/office/drawing/2014/main" id="{2CB73E00-7649-43EC-B26B-CA6053392AC8}"/>
              </a:ext>
            </a:extLst>
          </p:cNvPr>
          <p:cNvSpPr>
            <a:spLocks xmlns:a="http://schemas.openxmlformats.org/drawingml/2006/main" noGrp="1"/>
          </p:cNvSpPr>
          <p:nvPr/>
        </p:nvSpPr>
        <p:spPr>
          <a:xfrm xmlns:a="http://schemas.openxmlformats.org/drawingml/2006/main">
            <a:off x="685800" y="52768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3344"/>
                </a:solidFill>
                <a:latin typeface="Arial"/>
                <a:ea typeface="Arial"/>
                <a:cs typeface="Arial"/>
              </a:defRPr>
            </a:pPr>
            <a:r>
              <a:rPr sz="2325" b="1">
                <a:solidFill>
                  <a:srgbClr val="083344"/>
                </a:solidFill>
                <a:latin typeface="Arial"/>
                <a:ea typeface="Arial"/>
                <a:cs typeface="Arial"/>
              </a:rPr>
              <a:t>You confirm what it learns. You choose when to apply.</a:t>
            </a:r>
          </a:p>
        </p:txBody>
      </p:sp>
    </p:spTree>
    <p:extLst>
      <p:ext uri="{BB962C8B-B14F-4D97-AF65-F5344CB8AC3E}">
        <p14:creationId xmlns:p14="http://schemas.microsoft.com/office/powerpoint/2010/main" val="1511374276"/>
      </p:ext>
    </p:extLst>
  </p:cSld>
</p:sld>
</file>

<file path=ppt/slides/slide4.xml><?xml version="1.0" encoding="utf-8"?>
<p:sld xmlns:p="http://schemas.openxmlformats.org/presentationml/2006/main">
  <p:cSld>
    <p:bg>
      <p:bgPr>
        <a:solidFill xmlns:a="http://schemas.openxmlformats.org/drawingml/2006/main">
          <a:srgbClr val="EFFB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4140F9F-A7DD-42DC-B999-FBC517C9DEBB}"/>
              </a:ext>
            </a:extLst>
          </p:cNvPr>
          <p:cNvSpPr>
            <a:spLocks xmlns:a="http://schemas.openxmlformats.org/drawingml/2006/main" noGrp="1"/>
          </p:cNvSpPr>
          <p:nvPr/>
        </p:nvSpPr>
        <p:spPr>
          <a:xfrm xmlns:a="http://schemas.openxmlformats.org/drawingml/2006/main">
            <a:off x="685800" y="552450"/>
            <a:ext cx="10820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3344"/>
                </a:solidFill>
                <a:latin typeface="Arial"/>
                <a:ea typeface="Arial"/>
                <a:cs typeface="Arial"/>
              </a:defRPr>
            </a:pPr>
            <a:r>
              <a:rPr sz="3600" b="1">
                <a:solidFill>
                  <a:srgbClr val="083344"/>
                </a:solidFill>
                <a:latin typeface="Arial"/>
                <a:ea typeface="Arial"/>
                <a:cs typeface="Arial"/>
              </a:rPr>
              <a:t>How the sponsor tools work together</a:t>
            </a:r>
          </a:p>
        </p:txBody>
      </p:sp>
      <p:sp>
        <p:nvSpPr>
          <p:cNvPr id="2" name="">
            <a:extLst xmlns:a="http://schemas.openxmlformats.org/drawingml/2006/main">
              <a:ext uri="{FF2B5EF4-FFF2-40B4-BE49-F238E27FC236}">
                <a16:creationId xmlns:a16="http://schemas.microsoft.com/office/drawing/2014/main" id="{C7D12C3D-8FC2-418B-A7E1-C52558D5B0AD}"/>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365B66"/>
                </a:solidFill>
                <a:latin typeface="Arial"/>
                <a:ea typeface="Arial"/>
                <a:cs typeface="Arial"/>
              </a:defRPr>
            </a:pPr>
            <a:r>
              <a:rPr sz="1350" b="0">
                <a:solidFill>
                  <a:srgbClr val="365B66"/>
                </a:solidFill>
                <a:latin typeface="Arial"/>
                <a:ea typeface="Arial"/>
                <a:cs typeface="Arial"/>
              </a:rPr>
              <a:t>4 / 5</a:t>
            </a:r>
          </a:p>
        </p:txBody>
      </p:sp>
      <p:sp>
        <p:nvSpPr>
          <p:cNvPr id="3" name="">
            <a:extLst xmlns:a="http://schemas.openxmlformats.org/drawingml/2006/main">
              <a:ext uri="{FF2B5EF4-FFF2-40B4-BE49-F238E27FC236}">
                <a16:creationId xmlns:a16="http://schemas.microsoft.com/office/drawing/2014/main" id="{BD94706B-4D81-4B03-9B14-26A2BDFF23C8}"/>
              </a:ext>
            </a:extLst>
          </p:cNvPr>
          <p:cNvSpPr>
            <a:spLocks xmlns:a="http://schemas.openxmlformats.org/drawingml/2006/main" noGrp="1"/>
          </p:cNvSpPr>
          <p:nvPr/>
        </p:nvSpPr>
        <p:spPr>
          <a:xfrm xmlns:a="http://schemas.openxmlformats.org/drawingml/2006/main">
            <a:off x="723900" y="1809750"/>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E7490"/>
                </a:solidFill>
                <a:latin typeface="Arial"/>
                <a:ea typeface="Arial"/>
                <a:cs typeface="Arial"/>
              </a:defRPr>
            </a:pPr>
            <a:r>
              <a:rPr sz="2400" b="1">
                <a:solidFill>
                  <a:srgbClr val="0E7490"/>
                </a:solidFill>
                <a:latin typeface="Arial"/>
                <a:ea typeface="Arial"/>
                <a:cs typeface="Arial"/>
              </a:rPr>
              <a:t>Hotdata</a:t>
            </a:r>
          </a:p>
        </p:txBody>
      </p:sp>
      <p:sp>
        <p:nvSpPr>
          <p:cNvPr id="4" name="">
            <a:extLst xmlns:a="http://schemas.openxmlformats.org/drawingml/2006/main">
              <a:ext uri="{FF2B5EF4-FFF2-40B4-BE49-F238E27FC236}">
                <a16:creationId xmlns:a16="http://schemas.microsoft.com/office/drawing/2014/main" id="{E7A22A41-1E82-4990-AAA7-C120E81D43CF}"/>
              </a:ext>
            </a:extLst>
          </p:cNvPr>
          <p:cNvSpPr>
            <a:spLocks xmlns:a="http://schemas.openxmlformats.org/drawingml/2006/main" noGrp="1"/>
          </p:cNvSpPr>
          <p:nvPr/>
        </p:nvSpPr>
        <p:spPr>
          <a:xfrm xmlns:a="http://schemas.openxmlformats.org/drawingml/2006/main">
            <a:off x="3667125" y="1809750"/>
            <a:ext cx="771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83344"/>
                </a:solidFill>
                <a:latin typeface="Arial"/>
                <a:ea typeface="Arial"/>
                <a:cs typeface="Arial"/>
              </a:defRPr>
            </a:pPr>
            <a:r>
              <a:rPr sz="2250" b="0">
                <a:solidFill>
                  <a:srgbClr val="083344"/>
                </a:solidFill>
                <a:latin typeface="Arial"/>
                <a:ea typeface="Arial"/>
                <a:cs typeface="Arial"/>
              </a:rPr>
              <a:t>Job corpus, retrieval and run metrics</a:t>
            </a:r>
          </a:p>
        </p:txBody>
      </p:sp>
      <p:sp>
        <p:nvSpPr>
          <p:cNvPr id="5" name="">
            <a:extLst xmlns:a="http://schemas.openxmlformats.org/drawingml/2006/main">
              <a:ext uri="{FF2B5EF4-FFF2-40B4-BE49-F238E27FC236}">
                <a16:creationId xmlns:a16="http://schemas.microsoft.com/office/drawing/2014/main" id="{BA605C8F-823E-4B2A-9258-D3B58BBA1FAC}"/>
              </a:ext>
            </a:extLst>
          </p:cNvPr>
          <p:cNvSpPr>
            <a:spLocks xmlns:a="http://schemas.openxmlformats.org/drawingml/2006/main" noGrp="1"/>
          </p:cNvSpPr>
          <p:nvPr/>
        </p:nvSpPr>
        <p:spPr>
          <a:xfrm xmlns:a="http://schemas.openxmlformats.org/drawingml/2006/main">
            <a:off x="723900" y="2533650"/>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E7490"/>
                </a:solidFill>
                <a:latin typeface="Arial"/>
                <a:ea typeface="Arial"/>
                <a:cs typeface="Arial"/>
              </a:defRPr>
            </a:pPr>
            <a:r>
              <a:rPr sz="2400" b="1">
                <a:solidFill>
                  <a:srgbClr val="0E7490"/>
                </a:solidFill>
                <a:latin typeface="Arial"/>
                <a:ea typeface="Arial"/>
                <a:cs typeface="Arial"/>
              </a:rPr>
              <a:t>Cognee</a:t>
            </a:r>
          </a:p>
        </p:txBody>
      </p:sp>
      <p:sp>
        <p:nvSpPr>
          <p:cNvPr id="6" name="">
            <a:extLst xmlns:a="http://schemas.openxmlformats.org/drawingml/2006/main">
              <a:ext uri="{FF2B5EF4-FFF2-40B4-BE49-F238E27FC236}">
                <a16:creationId xmlns:a16="http://schemas.microsoft.com/office/drawing/2014/main" id="{A1157725-FBF3-4D28-88B0-7AAAC706DDD7}"/>
              </a:ext>
            </a:extLst>
          </p:cNvPr>
          <p:cNvSpPr>
            <a:spLocks xmlns:a="http://schemas.openxmlformats.org/drawingml/2006/main" noGrp="1"/>
          </p:cNvSpPr>
          <p:nvPr/>
        </p:nvSpPr>
        <p:spPr>
          <a:xfrm xmlns:a="http://schemas.openxmlformats.org/drawingml/2006/main">
            <a:off x="3667125" y="2533650"/>
            <a:ext cx="771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83344"/>
                </a:solidFill>
                <a:latin typeface="Arial"/>
                <a:ea typeface="Arial"/>
                <a:cs typeface="Arial"/>
              </a:defRPr>
            </a:pPr>
            <a:r>
              <a:rPr sz="2250" b="0">
                <a:solidFill>
                  <a:srgbClr val="083344"/>
                </a:solidFill>
                <a:latin typeface="Arial"/>
                <a:ea typeface="Arial"/>
                <a:cs typeface="Arial"/>
              </a:rPr>
              <a:t>Structure resume facts and feedback</a:t>
            </a:r>
          </a:p>
        </p:txBody>
      </p:sp>
      <p:sp>
        <p:nvSpPr>
          <p:cNvPr id="7" name="">
            <a:extLst xmlns:a="http://schemas.openxmlformats.org/drawingml/2006/main">
              <a:ext uri="{FF2B5EF4-FFF2-40B4-BE49-F238E27FC236}">
                <a16:creationId xmlns:a16="http://schemas.microsoft.com/office/drawing/2014/main" id="{70502CB5-D53E-4EF3-90C7-3052A0143830}"/>
              </a:ext>
            </a:extLst>
          </p:cNvPr>
          <p:cNvSpPr>
            <a:spLocks xmlns:a="http://schemas.openxmlformats.org/drawingml/2006/main" noGrp="1"/>
          </p:cNvSpPr>
          <p:nvPr/>
        </p:nvSpPr>
        <p:spPr>
          <a:xfrm xmlns:a="http://schemas.openxmlformats.org/drawingml/2006/main">
            <a:off x="723900" y="3257550"/>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E7490"/>
                </a:solidFill>
                <a:latin typeface="Arial"/>
                <a:ea typeface="Arial"/>
                <a:cs typeface="Arial"/>
              </a:defRPr>
            </a:pPr>
            <a:r>
              <a:rPr sz="2400" b="1">
                <a:solidFill>
                  <a:srgbClr val="0E7490"/>
                </a:solidFill>
                <a:latin typeface="Arial"/>
                <a:ea typeface="Arial"/>
                <a:cs typeface="Arial"/>
              </a:rPr>
              <a:t>HydraDB</a:t>
            </a:r>
          </a:p>
        </p:txBody>
      </p:sp>
      <p:sp>
        <p:nvSpPr>
          <p:cNvPr id="8" name="">
            <a:extLst xmlns:a="http://schemas.openxmlformats.org/drawingml/2006/main">
              <a:ext uri="{FF2B5EF4-FFF2-40B4-BE49-F238E27FC236}">
                <a16:creationId xmlns:a16="http://schemas.microsoft.com/office/drawing/2014/main" id="{65DC98C4-E1CC-40F4-A752-DCF93EC8877B}"/>
              </a:ext>
            </a:extLst>
          </p:cNvPr>
          <p:cNvSpPr>
            <a:spLocks xmlns:a="http://schemas.openxmlformats.org/drawingml/2006/main" noGrp="1"/>
          </p:cNvSpPr>
          <p:nvPr/>
        </p:nvSpPr>
        <p:spPr>
          <a:xfrm xmlns:a="http://schemas.openxmlformats.org/drawingml/2006/main">
            <a:off x="3667125" y="3257550"/>
            <a:ext cx="771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83344"/>
                </a:solidFill>
                <a:latin typeface="Arial"/>
                <a:ea typeface="Arial"/>
                <a:cs typeface="Arial"/>
              </a:defRPr>
            </a:pPr>
            <a:r>
              <a:rPr sz="2250" b="0">
                <a:solidFill>
                  <a:srgbClr val="083344"/>
                </a:solidFill>
                <a:latin typeface="Arial"/>
                <a:ea typeface="Arial"/>
                <a:cs typeface="Arial"/>
              </a:rPr>
              <a:t>Persist candidate memory and decisions</a:t>
            </a:r>
          </a:p>
        </p:txBody>
      </p:sp>
      <p:sp>
        <p:nvSpPr>
          <p:cNvPr id="9" name="">
            <a:extLst xmlns:a="http://schemas.openxmlformats.org/drawingml/2006/main">
              <a:ext uri="{FF2B5EF4-FFF2-40B4-BE49-F238E27FC236}">
                <a16:creationId xmlns:a16="http://schemas.microsoft.com/office/drawing/2014/main" id="{80E27942-2C7A-40C8-BCA6-0289DA1B660C}"/>
              </a:ext>
            </a:extLst>
          </p:cNvPr>
          <p:cNvSpPr>
            <a:spLocks xmlns:a="http://schemas.openxmlformats.org/drawingml/2006/main" noGrp="1"/>
          </p:cNvSpPr>
          <p:nvPr/>
        </p:nvSpPr>
        <p:spPr>
          <a:xfrm xmlns:a="http://schemas.openxmlformats.org/drawingml/2006/main">
            <a:off x="723900" y="3981450"/>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E7490"/>
                </a:solidFill>
                <a:latin typeface="Arial"/>
                <a:ea typeface="Arial"/>
                <a:cs typeface="Arial"/>
              </a:defRPr>
            </a:pPr>
            <a:r>
              <a:rPr sz="2400" b="1">
                <a:solidFill>
                  <a:srgbClr val="0E7490"/>
                </a:solidFill>
                <a:latin typeface="Arial"/>
                <a:ea typeface="Arial"/>
                <a:cs typeface="Arial"/>
              </a:rPr>
              <a:t>RocketRide</a:t>
            </a:r>
          </a:p>
        </p:txBody>
      </p:sp>
      <p:sp>
        <p:nvSpPr>
          <p:cNvPr id="10" name="">
            <a:extLst xmlns:a="http://schemas.openxmlformats.org/drawingml/2006/main">
              <a:ext uri="{FF2B5EF4-FFF2-40B4-BE49-F238E27FC236}">
                <a16:creationId xmlns:a16="http://schemas.microsoft.com/office/drawing/2014/main" id="{89B4635B-2F1D-4B2F-A780-FFC0851E614C}"/>
              </a:ext>
            </a:extLst>
          </p:cNvPr>
          <p:cNvSpPr>
            <a:spLocks xmlns:a="http://schemas.openxmlformats.org/drawingml/2006/main" noGrp="1"/>
          </p:cNvSpPr>
          <p:nvPr/>
        </p:nvSpPr>
        <p:spPr>
          <a:xfrm xmlns:a="http://schemas.openxmlformats.org/drawingml/2006/main">
            <a:off x="3667125" y="3981450"/>
            <a:ext cx="771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83344"/>
                </a:solidFill>
                <a:latin typeface="Arial"/>
                <a:ea typeface="Arial"/>
                <a:cs typeface="Arial"/>
              </a:defRPr>
            </a:pPr>
            <a:r>
              <a:rPr sz="2250" b="0">
                <a:solidFill>
                  <a:srgbClr val="083344"/>
                </a:solidFill>
                <a:latin typeface="Arial"/>
                <a:ea typeface="Arial"/>
                <a:cs typeface="Arial"/>
              </a:rPr>
              <a:t>Orchestrate ranking and application packs</a:t>
            </a:r>
          </a:p>
        </p:txBody>
      </p:sp>
      <p:sp>
        <p:nvSpPr>
          <p:cNvPr id="11" name="">
            <a:extLst xmlns:a="http://schemas.openxmlformats.org/drawingml/2006/main">
              <a:ext uri="{FF2B5EF4-FFF2-40B4-BE49-F238E27FC236}">
                <a16:creationId xmlns:a16="http://schemas.microsoft.com/office/drawing/2014/main" id="{D4E66BD5-7568-47DE-A507-403C4F0AFF1C}"/>
              </a:ext>
            </a:extLst>
          </p:cNvPr>
          <p:cNvSpPr>
            <a:spLocks xmlns:a="http://schemas.openxmlformats.org/drawingml/2006/main" noGrp="1"/>
          </p:cNvSpPr>
          <p:nvPr/>
        </p:nvSpPr>
        <p:spPr>
          <a:xfrm xmlns:a="http://schemas.openxmlformats.org/drawingml/2006/main">
            <a:off x="723900" y="4705350"/>
            <a:ext cx="2809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E7490"/>
                </a:solidFill>
                <a:latin typeface="Arial"/>
                <a:ea typeface="Arial"/>
                <a:cs typeface="Arial"/>
              </a:defRPr>
            </a:pPr>
            <a:r>
              <a:rPr sz="2400" b="1">
                <a:solidFill>
                  <a:srgbClr val="0E7490"/>
                </a:solidFill>
                <a:latin typeface="Arial"/>
                <a:ea typeface="Arial"/>
                <a:cs typeface="Arial"/>
              </a:rPr>
              <a:t>Rote / Modiqo</a:t>
            </a:r>
          </a:p>
        </p:txBody>
      </p:sp>
      <p:sp>
        <p:nvSpPr>
          <p:cNvPr id="12" name="">
            <a:extLst xmlns:a="http://schemas.openxmlformats.org/drawingml/2006/main">
              <a:ext uri="{FF2B5EF4-FFF2-40B4-BE49-F238E27FC236}">
                <a16:creationId xmlns:a16="http://schemas.microsoft.com/office/drawing/2014/main" id="{35E345D6-C16C-4D43-A1EF-91375B3808EF}"/>
              </a:ext>
            </a:extLst>
          </p:cNvPr>
          <p:cNvSpPr>
            <a:spLocks xmlns:a="http://schemas.openxmlformats.org/drawingml/2006/main" noGrp="1"/>
          </p:cNvSpPr>
          <p:nvPr/>
        </p:nvSpPr>
        <p:spPr>
          <a:xfrm xmlns:a="http://schemas.openxmlformats.org/drawingml/2006/main">
            <a:off x="3667125" y="4705350"/>
            <a:ext cx="7715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83344"/>
                </a:solidFill>
                <a:latin typeface="Arial"/>
                <a:ea typeface="Arial"/>
                <a:cs typeface="Arial"/>
              </a:defRPr>
            </a:pPr>
            <a:r>
              <a:rPr sz="2250" b="0">
                <a:solidFill>
                  <a:srgbClr val="083344"/>
                </a:solidFill>
                <a:latin typeface="Arial"/>
                <a:ea typeface="Arial"/>
                <a:cs typeface="Arial"/>
              </a:rPr>
              <a:t>Record successful paths and replay them</a:t>
            </a:r>
          </a:p>
        </p:txBody>
      </p:sp>
      <p:sp>
        <p:nvSpPr>
          <p:cNvPr id="13" name="">
            <a:extLst xmlns:a="http://schemas.openxmlformats.org/drawingml/2006/main">
              <a:ext uri="{FF2B5EF4-FFF2-40B4-BE49-F238E27FC236}">
                <a16:creationId xmlns:a16="http://schemas.microsoft.com/office/drawing/2014/main" id="{3DFC3BC4-05CF-4D9E-A2D6-B0325DD398F6}"/>
              </a:ext>
            </a:extLst>
          </p:cNvPr>
          <p:cNvSpPr>
            <a:spLocks xmlns:a="http://schemas.openxmlformats.org/drawingml/2006/main" noGrp="1"/>
          </p:cNvSpPr>
          <p:nvPr/>
        </p:nvSpPr>
        <p:spPr>
          <a:xfrm xmlns:a="http://schemas.openxmlformats.org/drawingml/2006/main">
            <a:off x="723900" y="5686425"/>
            <a:ext cx="10763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65B66"/>
                </a:solidFill>
                <a:latin typeface="Arial"/>
                <a:ea typeface="Arial"/>
                <a:cs typeface="Arial"/>
              </a:defRPr>
            </a:pPr>
            <a:r>
              <a:rPr sz="1875" b="0">
                <a:solidFill>
                  <a:srgbClr val="365B66"/>
                </a:solidFill>
                <a:latin typeface="Arial"/>
                <a:ea typeface="Arial"/>
                <a:cs typeface="Arial"/>
              </a:rPr>
              <a:t>Feedback → memory → next ranking     ·     Snyk: code &amp; dependency scans</a:t>
            </a:r>
          </a:p>
        </p:txBody>
      </p:sp>
    </p:spTree>
    <p:extLst>
      <p:ext uri="{BB962C8B-B14F-4D97-AF65-F5344CB8AC3E}">
        <p14:creationId xmlns:p14="http://schemas.microsoft.com/office/powerpoint/2010/main" val="1173283989"/>
      </p:ext>
    </p:extLst>
  </p:cSld>
</p:sld>
</file>

<file path=ppt/slides/slide5.xml><?xml version="1.0" encoding="utf-8"?>
<p:sld xmlns:p="http://schemas.openxmlformats.org/presentationml/2006/main">
  <p:cSld>
    <p:bg>
      <p:bgPr>
        <a:solidFill xmlns:a="http://schemas.openxmlformats.org/drawingml/2006/main">
          <a:srgbClr val="06232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2D392F-2D35-475A-B327-C57EDB5CD2BE}"/>
              </a:ext>
            </a:extLst>
          </p:cNvPr>
          <p:cNvSpPr>
            <a:spLocks xmlns:a="http://schemas.openxmlformats.org/drawingml/2006/main" noGrp="1"/>
          </p:cNvSpPr>
          <p:nvPr/>
        </p:nvSpPr>
        <p:spPr>
          <a:xfrm xmlns:a="http://schemas.openxmlformats.org/drawingml/2006/main">
            <a:off x="10572750" y="62865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7E8F9"/>
                </a:solidFill>
                <a:latin typeface="Arial"/>
                <a:ea typeface="Arial"/>
                <a:cs typeface="Arial"/>
              </a:defRPr>
            </a:pPr>
            <a:r>
              <a:rPr sz="1350" b="0">
                <a:solidFill>
                  <a:srgbClr val="67E8F9"/>
                </a:solidFill>
                <a:latin typeface="Arial"/>
                <a:ea typeface="Arial"/>
                <a:cs typeface="Arial"/>
              </a:rPr>
              <a:t>5 / 5</a:t>
            </a:r>
          </a:p>
        </p:txBody>
      </p:sp>
      <p:sp>
        <p:nvSpPr>
          <p:cNvPr id="2" name="">
            <a:extLst xmlns:a="http://schemas.openxmlformats.org/drawingml/2006/main">
              <a:ext uri="{FF2B5EF4-FFF2-40B4-BE49-F238E27FC236}">
                <a16:creationId xmlns:a16="http://schemas.microsoft.com/office/drawing/2014/main" id="{FAF39CBA-9157-4A58-937D-5073E6CD88EF}"/>
              </a:ext>
            </a:extLst>
          </p:cNvPr>
          <p:cNvSpPr>
            <a:spLocks xmlns:a="http://schemas.openxmlformats.org/drawingml/2006/main" noGrp="1"/>
          </p:cNvSpPr>
          <p:nvPr/>
        </p:nvSpPr>
        <p:spPr>
          <a:xfrm xmlns:a="http://schemas.openxmlformats.org/drawingml/2006/main">
            <a:off x="685800" y="2190750"/>
            <a:ext cx="108204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300" b="1">
                <a:solidFill>
                  <a:srgbClr val="67E8F9"/>
                </a:solidFill>
                <a:latin typeface="Arial"/>
                <a:ea typeface="Arial"/>
                <a:cs typeface="Arial"/>
              </a:defRPr>
            </a:pPr>
            <a:r>
              <a:rPr sz="9300" b="1">
                <a:solidFill>
                  <a:srgbClr val="67E8F9"/>
                </a:solidFill>
                <a:latin typeface="Arial"/>
                <a:ea typeface="Arial"/>
                <a:cs typeface="Arial"/>
              </a:rPr>
              <a:t>demo time</a:t>
            </a:r>
          </a:p>
        </p:txBody>
      </p:sp>
      <p:sp>
        <p:nvSpPr>
          <p:cNvPr id="3" name="">
            <a:extLst xmlns:a="http://schemas.openxmlformats.org/drawingml/2006/main">
              <a:ext uri="{FF2B5EF4-FFF2-40B4-BE49-F238E27FC236}">
                <a16:creationId xmlns:a16="http://schemas.microsoft.com/office/drawing/2014/main" id="{DFAB6FA5-8BE3-4225-A4DD-0F9EC9EA1650}"/>
              </a:ext>
            </a:extLst>
          </p:cNvPr>
          <p:cNvSpPr>
            <a:spLocks xmlns:a="http://schemas.openxmlformats.org/drawingml/2006/main" noGrp="1"/>
          </p:cNvSpPr>
          <p:nvPr/>
        </p:nvSpPr>
        <p:spPr>
          <a:xfrm xmlns:a="http://schemas.openxmlformats.org/drawingml/2006/main">
            <a:off x="742950" y="4191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Find a role. Give feedback. See what it remembers.</a:t>
            </a:r>
          </a:p>
        </p:txBody>
      </p:sp>
    </p:spTree>
    <p:extLst>
      <p:ext uri="{BB962C8B-B14F-4D97-AF65-F5344CB8AC3E}">
        <p14:creationId xmlns:p14="http://schemas.microsoft.com/office/powerpoint/2010/main" val="1818784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2026-09-11T21:31:41.4280000Z</dcterms:created>
  <dcterms:modified xsi:type="dcterms:W3CDTF">2026-09-11T21:31:41.4280000Z</dcterms:modified>
</coreProperties>
</file>