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cd4fdda659e47e0" /><Relationship Type="http://schemas.openxmlformats.org/officeDocument/2006/relationships/extended-properties" Target="/docProps/app.xml" Id="R99c5bd7ff675463f" /><Relationship Type="http://schemas.openxmlformats.org/officeDocument/2006/relationships/officeDocument" Target="/ppt/presentation.xml" Id="Rcdeb0b5961e042bb" /></Relationships>
</file>

<file path=ppt/presentation.xml><?xml version="1.0" encoding="utf-8"?>
<p:presentation xmlns:p="http://schemas.openxmlformats.org/presentationml/2006/main">
  <p:sldMasterIdLst>
    <p:sldMasterId xmlns:r="http://schemas.openxmlformats.org/officeDocument/2006/relationships" id="2147483648" r:id="Rae63e5c8d47849a7"/>
  </p:sldMasterIdLst>
  <p:notesMasterIdLst>
    <p:notesMasterId xmlns:r="http://schemas.openxmlformats.org/officeDocument/2006/relationships" r:id="R9519a653d1764705"/>
  </p:notesMasterIdLst>
  <p:sldIdLst>
    <p:sldId xmlns:r="http://schemas.openxmlformats.org/officeDocument/2006/relationships" id="256" r:id="R3ca037af676040af"/>
    <p:sldId xmlns:r="http://schemas.openxmlformats.org/officeDocument/2006/relationships" id="257" r:id="Rb7d42266095445de"/>
    <p:sldId xmlns:r="http://schemas.openxmlformats.org/officeDocument/2006/relationships" id="258" r:id="R4709538c598d4bb1"/>
    <p:sldId xmlns:r="http://schemas.openxmlformats.org/officeDocument/2006/relationships" id="259" r:id="R2c7b6ae888784f69"/>
    <p:sldId xmlns:r="http://schemas.openxmlformats.org/officeDocument/2006/relationships" id="260" r:id="R1b6eda8a15d946a2"/>
    <p:sldId xmlns:r="http://schemas.openxmlformats.org/officeDocument/2006/relationships" id="261" r:id="Rd4301e72405a4805"/>
    <p:sldId xmlns:r="http://schemas.openxmlformats.org/officeDocument/2006/relationships" id="262" r:id="Rebe6e9a4271946b2"/>
    <p:sldId xmlns:r="http://schemas.openxmlformats.org/officeDocument/2006/relationships" id="263" r:id="R279abd54e8894d9a"/>
    <p:sldId xmlns:r="http://schemas.openxmlformats.org/officeDocument/2006/relationships" id="264" r:id="R6c0fc11e8e8e4b8f"/>
    <p:sldId xmlns:r="http://schemas.openxmlformats.org/officeDocument/2006/relationships" id="265" r:id="R22d44270238a4cbf"/>
    <p:sldId xmlns:r="http://schemas.openxmlformats.org/officeDocument/2006/relationships" id="266" r:id="R9f752f56bc0c447d"/>
    <p:sldId xmlns:r="http://schemas.openxmlformats.org/officeDocument/2006/relationships" id="267" r:id="Rf4164bd3e3e948bf"/>
    <p:sldId xmlns:r="http://schemas.openxmlformats.org/officeDocument/2006/relationships" id="268" r:id="R07202753b6b849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2cfae1cb384986" /><Relationship Type="http://schemas.openxmlformats.org/officeDocument/2006/relationships/slideMaster" Target="/ppt/slideMasters/slideMaster1.xml" Id="Rae63e5c8d47849a7" /><Relationship Type="http://schemas.openxmlformats.org/officeDocument/2006/relationships/notesMaster" Target="/ppt/notesMasters/notesMaster1.xml" Id="R9519a653d1764705" /><Relationship Type="http://schemas.openxmlformats.org/officeDocument/2006/relationships/presProps" Target="/ppt/presProps.xml" Id="R7f84171666474ce5" /><Relationship Type="http://schemas.openxmlformats.org/officeDocument/2006/relationships/tableStyles" Target="/ppt/tableStyles.xml" Id="R9505562e340944a3" /><Relationship Type="http://schemas.openxmlformats.org/officeDocument/2006/relationships/slide" Target="/ppt/slides/slide1.xml" Id="R3ca037af676040af" /><Relationship Type="http://schemas.openxmlformats.org/officeDocument/2006/relationships/slide" Target="/ppt/slides/slide2.xml" Id="Rb7d42266095445de" /><Relationship Type="http://schemas.openxmlformats.org/officeDocument/2006/relationships/slide" Target="/ppt/slides/slide3.xml" Id="R4709538c598d4bb1" /><Relationship Type="http://schemas.openxmlformats.org/officeDocument/2006/relationships/slide" Target="/ppt/slides/slide4.xml" Id="R2c7b6ae888784f69" /><Relationship Type="http://schemas.openxmlformats.org/officeDocument/2006/relationships/slide" Target="/ppt/slides/slide5.xml" Id="R1b6eda8a15d946a2" /><Relationship Type="http://schemas.openxmlformats.org/officeDocument/2006/relationships/slide" Target="/ppt/slides/slide6.xml" Id="Rd4301e72405a4805" /><Relationship Type="http://schemas.openxmlformats.org/officeDocument/2006/relationships/slide" Target="/ppt/slides/slide7.xml" Id="Rebe6e9a4271946b2" /><Relationship Type="http://schemas.openxmlformats.org/officeDocument/2006/relationships/slide" Target="/ppt/slides/slide8.xml" Id="R279abd54e8894d9a" /><Relationship Type="http://schemas.openxmlformats.org/officeDocument/2006/relationships/slide" Target="/ppt/slides/slide9.xml" Id="R6c0fc11e8e8e4b8f" /><Relationship Type="http://schemas.openxmlformats.org/officeDocument/2006/relationships/slide" Target="/ppt/slides/slide10.xml" Id="R22d44270238a4cbf" /><Relationship Type="http://schemas.openxmlformats.org/officeDocument/2006/relationships/slide" Target="/ppt/slides/slide11.xml" Id="R9f752f56bc0c447d" /><Relationship Type="http://schemas.openxmlformats.org/officeDocument/2006/relationships/slide" Target="/ppt/slides/slide12.xml" Id="Rf4164bd3e3e948bf" /><Relationship Type="http://schemas.openxmlformats.org/officeDocument/2006/relationships/slide" Target="/ppt/slides/slide13.xml" Id="R07202753b6b849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7cc99046984a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36c7eb023b45f8" /><Relationship Type="http://schemas.openxmlformats.org/officeDocument/2006/relationships/notesMaster" Target="/ppt/notesMasters/notesMaster1.xml" Id="Ra93e289032854d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3918cf3b584c83" /><Relationship Type="http://schemas.openxmlformats.org/officeDocument/2006/relationships/notesMaster" Target="/ppt/notesMasters/notesMaster1.xml" Id="R57f034d225d64e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ea692571ef4b90" /><Relationship Type="http://schemas.openxmlformats.org/officeDocument/2006/relationships/notesMaster" Target="/ppt/notesMasters/notesMaster1.xml" Id="R139e272ce2bf40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11a28b03fb4044" /><Relationship Type="http://schemas.openxmlformats.org/officeDocument/2006/relationships/notesMaster" Target="/ppt/notesMasters/notesMaster1.xml" Id="R9ba23b680e0546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cdb87a7a9e488f" /><Relationship Type="http://schemas.openxmlformats.org/officeDocument/2006/relationships/notesMaster" Target="/ppt/notesMasters/notesMaster1.xml" Id="R30b1963f01c342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2cdb1a9549435f" /><Relationship Type="http://schemas.openxmlformats.org/officeDocument/2006/relationships/notesMaster" Target="/ppt/notesMasters/notesMaster1.xml" Id="Rc290d4f9dcf545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d4f21ac57f42fc" /><Relationship Type="http://schemas.openxmlformats.org/officeDocument/2006/relationships/notesMaster" Target="/ppt/notesMasters/notesMaster1.xml" Id="R7660465bae8e46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b53c09e697472b" /><Relationship Type="http://schemas.openxmlformats.org/officeDocument/2006/relationships/notesMaster" Target="/ppt/notesMasters/notesMaster1.xml" Id="Rbed5829975f948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0c4ba699614d9e" /><Relationship Type="http://schemas.openxmlformats.org/officeDocument/2006/relationships/notesMaster" Target="/ppt/notesMasters/notesMaster1.xml" Id="R31ec0cc3876848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e9afa5a3174309" /><Relationship Type="http://schemas.openxmlformats.org/officeDocument/2006/relationships/notesMaster" Target="/ppt/notesMasters/notesMaster1.xml" Id="R0ae54c6fe1c74c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f8522b0f6c4aeb" /><Relationship Type="http://schemas.openxmlformats.org/officeDocument/2006/relationships/notesMaster" Target="/ppt/notesMasters/notesMaster1.xml" Id="R7af67b14a28345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ba076e644542ad" /><Relationship Type="http://schemas.openxmlformats.org/officeDocument/2006/relationships/notesMaster" Target="/ppt/notesMasters/notesMaster1.xml" Id="Rf52eddf299b44e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1d3f673bef4605" /><Relationship Type="http://schemas.openxmlformats.org/officeDocument/2006/relationships/notesMaster" Target="/ppt/notesMasters/notesMaster1.xml" Id="R0f46e0f16d164e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Second Nature is a job-search agent that learns from your decisions. Each run should reuse more of what already worked, while you keep control of your facts and final applications. We are focusing this three-hour MVP on one complete, measurable learning loop.</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Working product name: Second Nature. Cover artwork is an abstract generated illustration,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Think about an active engineer searching across dozens of roles. The search is not finished when a job is found. They still decide whether it fits, explain why they skipped it, and restate the same facts in another application. Our hypothesis is that the highest-value memory is the history of those decisions.</a:t>
            </a:r>
          </a:p>
          <a:p xmlns:a="http://schemas.openxmlformats.org/drawingml/2006/main">
            <a:r>
              <a:t/>
            </a:r>
          </a:p>
          <a:p xmlns:a="http://schemas.openxmlformats.org/drawingml/2006/main">
            <a:r>
              <a:t>User scenario, not a survey finding. Source: DESIGN.md, sections 2, 4–9. Design targets are not live benchmark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This is already a competitive category. Simplify fills applications and reuses answers. Teal supports tailored resumes and tracking. Jobright matches jobs using your profile and preferences. Our bet is an auditable loop: show what was learned, which workflow was replayed, and whether fewer questions came with better decisions. That is a positioning hypothesis, not a claim that competitors cannot learn.</a:t>
            </a:r>
          </a:p>
          <a:p xmlns:a="http://schemas.openxmlformats.org/drawingml/2006/main">
            <a:r>
              <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Start with a resume and verified claims. The agent ranks real roles and explains the match. You keep or skip, with a reason. Repeated reasons become a proposed preference, which you confirm before it affects ranking. The next application pack reuses known answers and cites verified claims. Final submission always stays with the person.</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Code: agent/pipeline.py, agent/rank.py, agent/feedback.py, memory/prefs.py, memory/answers.py, memory/claims.py. The sentence on this slide is an illustrative explanation, not an actual user's private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We have already collected and normalized 2,321 open technical roles from 19 companies across Greenhouse, Ashby and Lever. The table has unique IDs, descriptions, application links and source dates, and we verified the write by reading it back. This gives the prototype a real workload immediately. It is evidence of data readiness, not user traction or total market size.</a:t>
            </a:r>
          </a:p>
          <a:p xmlns:a="http://schemas.openxmlformats.org/drawingml/2006/main">
            <a:r>
              <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Chart aggregation: Software 902; AI/ML 347; Data 178; Infrastructure 197; Product and design 146+96=242; Other technical 166+155+78+54+2=455.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Cognee structures what the candidate says. HydraDB persists the candidate graph and decision history. Hotdata holds the posting corpus and run analytics. RocketRide sequences the work through our MCP tools. Rote records successful tool paths so repeat work can replay. Snyk is the security gate. These are contracts we can demonstrate with traces; an import alone does not satisfy the spec.</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 DESIGN.md, sections 2, 4–9. Design targets are not live benchmark results.</a:t>
            </a:r>
          </a:p>
          <a:p xmlns:a="http://schemas.openxmlformats.org/drawingml/2006/main">
            <a:r>
              <a:t>Implementation detail: the HydraDB cloud adapter persists graph memory items, with named graph evaluation in-process. The optional Bolt backend executes real Cypher. Do not claim cloud Cypher was verified. Live sponsor trace verification remains a separate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scoring step is deterministic: forty-five percent verified requirement coverage, thirty percent retrieval relevance, and twenty-five percent preference fit, with bounded contextual adjustments. The model is not retrained. Its inputs improve as memory grows. Rote selects exact, partial or novel paths. The apply-pack uses a bounded model call and a validator that rejects unsupported claims.</a:t>
            </a:r>
          </a:p>
          <a:p xmlns:a="http://schemas.openxmlformats.org/drawingml/2006/main">
            <a:r>
              <a:t/>
            </a:r>
          </a:p>
          <a:p xmlns:a="http://schemas.openxmlformats.org/drawingml/2006/main">
            <a:r>
              <a:t>Code: agent/predict.py, agent/config.py, agent/pack.py, memory/claims.py, mcp_server/rote.py. Similarity is derived from retrieval rank, not a guaranteed cosine score. Weights are configured starting values, not learned or empirically optimal weights. 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Today, the evidence is a verified corpus and eighty-five passing offline tests. Those tests cover preference confirmation, reuse, missing-claim handling and metric contracts. They are not live integration benchmarks. The next proof is repeated sponsor-backed runs with real human feedback: log cost, questions and skip recall together. We will show only observed points, and label any tool-byte cost proxy explicitly.</a:t>
            </a:r>
          </a:p>
          <a:p xmlns:a="http://schemas.openxmlformats.org/drawingml/2006/main">
            <a:r>
              <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Code: agent/metrics.py. The field named prediction_accuracy computes recall on human-skipped items: correctly predicted skips divided by actual human skips. It is not overall accuracy. No live compounding history was present in the inspected local data directory. Design targets such as 40% to 90% or six questions to zero are not measured results and are deliberately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The official event is eight hours. Our three-hour scope reuses the corpus and implemented modules. The first thirty minutes establish a baseline. The next hour connects the five sponsor paths. Then we repeat the workflow with real human feedback. The final thirty-five minutes are for security, trace capture and rehearsal. If a feature does not support the learning loop, we cut it.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Proposed scope, not a claim that all integration work has completed in three hours. Six to ten feedback rounds is a stretch target only if measured latency permits. Preserve all five load-bearing technologies rather than expanding UI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Our initial customer is an active technical job seeker with repeated decisions to make. We would recruit ten design partners through developer communities and career coaches. A paid subscription during an active search is a hypothesis to test. The product succeeds if it saves preparation time while producing shortlists people keep, without inventing their experience. The next step is that pilot and an honest replay demonstration.</a:t>
            </a:r>
          </a:p>
          <a:p xmlns:a="http://schemas.openxmlformats.org/drawingml/2006/main">
            <a:r>
              <a:t/>
            </a:r>
          </a:p>
          <a:p xmlns:a="http://schemas.openxmlformats.org/drawingml/2006/main">
            <a:r>
              <a:t>Product and go-to-market hypotheses, not existing revenue, customers or validated willingness to pay. No TAM estimate is claimed. Market context: 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demo runbook, approximately 75–90 seconds if services are warm. Rehearse on an approved candidate dataset. Show a real baseline trace first. The three consistent skip reasons may be collected during preparation, but must come from an actual human. Do not fabricate historical responses or back-fill chart points. If a live trace is unavailable, label the recording and timestamp.</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No live Slack message or application submission was sent while preparing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snapshot removes dependency on live job-board fetching during the demo. It does not make the entire system offline: hosted Cognee, Hotdata and RocketRide still require network access. Keep a timestamped recording as a fallback. The source design's blanket offline claim must be narrowed accordingly.</a:t>
            </a:r>
          </a:p>
          <a:p xmlns:a="http://schemas.openxmlformats.org/drawingml/2006/main">
            <a:r>
              <a:t/>
            </a:r>
          </a:p>
          <a:p xmlns:a="http://schemas.openxmlformats.org/drawingml/2006/main">
            <a:r>
              <a:t>HydraDB: current code supports cloud persistence with local graph evaluation, or actual Cypher through the optional Bolt backend. Demonstrate whichever is deployed and name it. Rote: prove recorded execution and replay with actual CLI traces, not only local play-index tests. Snyk: no clean scan is claimed until the report exists.</a:t>
            </a:r>
          </a:p>
          <a:p xmlns:a="http://schemas.openxmlformats.org/drawingml/2006/main">
            <a:r>
              <a:t/>
            </a:r>
          </a:p>
          <a:p xmlns:a="http://schemas.openxmlformats.org/drawingml/2006/main">
            <a:r>
              <a:t>Sources: SPEC.pdf pp. 2–4; memory/graph.py; mcp_server/rote.py; agent/metrics.py;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register. All web sources accessed 2026-09-11. Full links also appear in the speaker notes for the slides they support. Local evidence paths are relative to the repository root.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76794b1e1a4a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db1671e3a74d6a" /><Relationship Type="http://schemas.openxmlformats.org/officeDocument/2006/relationships/slideLayout" Target="/ppt/slideLayouts/slideLayout1.xml" Id="R38c6395a6ebb48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c6395a6ebb48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4fd088fa734751" /><Relationship Type="http://schemas.openxmlformats.org/officeDocument/2006/relationships/image" Target="/ppt/media/image.png" Id="R59517cb33abc4d7f" /><Relationship Type="http://schemas.openxmlformats.org/officeDocument/2006/relationships/notesSlide" Target="/ppt/notesSlides/notesSlide1.xml" Id="R292ebf28c09446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92753e318d432f" /><Relationship Type="http://schemas.openxmlformats.org/officeDocument/2006/relationships/notesSlide" Target="/ppt/notesSlides/notesSlide2.xml" Id="Rdb449d9c7cb64f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c7dc0a78ee4783" /><Relationship Type="http://schemas.openxmlformats.org/officeDocument/2006/relationships/notesSlide" Target="/ppt/notesSlides/notesSlide3.xml" Id="R80e474f1384045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538285c4c34215" /><Relationship Type="http://schemas.openxmlformats.org/officeDocument/2006/relationships/notesSlide" Target="/ppt/notesSlides/notesSlide4.xml" Id="Rfb07ec2af1df40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9824e510bc48b9" /><Relationship Type="http://schemas.openxmlformats.org/officeDocument/2006/relationships/chart" Target="/ppt/slides/charts/chart1.xml" Id="R1f92ac5735cd4df9" /><Relationship Type="http://schemas.openxmlformats.org/officeDocument/2006/relationships/notesSlide" Target="/ppt/notesSlides/notesSlide5.xml" Id="R2b10cb8cd55347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477c9e09dc4bd3" /><Relationship Type="http://schemas.openxmlformats.org/officeDocument/2006/relationships/notesSlide" Target="/ppt/notesSlides/notesSlide6.xml" Id="Rdf773b83bff24f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a0391af2714937" /><Relationship Type="http://schemas.openxmlformats.org/officeDocument/2006/relationships/notesSlide" Target="/ppt/notesSlides/notesSlide7.xml" Id="R2e922e08e75b4c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a37eecf0c2407d" /><Relationship Type="http://schemas.openxmlformats.org/officeDocument/2006/relationships/notesSlide" Target="/ppt/notesSlides/notesSlide8.xml" Id="Rc67fd589168842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0cf109c6704774" /><Relationship Type="http://schemas.openxmlformats.org/officeDocument/2006/relationships/notesSlide" Target="/ppt/notesSlides/notesSlide9.xml" Id="Rcccb7e74ff5c4c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a45e3957e454c77" /><Relationship Type="http://schemas.openxmlformats.org/officeDocument/2006/relationships/notesSlide" Target="/ppt/notesSlides/notesSlide10.xml" Id="R85d8cb0ff3c842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68ed1d962d434d" /><Relationship Type="http://schemas.openxmlformats.org/officeDocument/2006/relationships/notesSlide" Target="/ppt/notesSlides/notesSlide11.xml" Id="R221036fed9844c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fbdaed071645de" /><Relationship Type="http://schemas.openxmlformats.org/officeDocument/2006/relationships/notesSlide" Target="/ppt/notesSlides/notesSlide12.xml" Id="R01e5bd8334c343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891b7d24e54ae1" /><Relationship Type="http://schemas.openxmlformats.org/officeDocument/2006/relationships/notesSlide" Target="/ppt/notesSlides/notesSlide13.xml" Id="R3d58f307d07a47c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roles</c:v>
          </c:tx>
          <c:spPr>
            <a:solidFill xmlns:a="http://schemas.openxmlformats.org/drawingml/2006/main">
              <a:srgbClr val="147C61"/>
            </a:solidFill>
          </c:spPr>
          <c:cat>
            <c:strRef>
              <c:f>'Chart Data'!$A$2:$A$7</c:f>
              <c:strCache>
                <c:ptCount val="6"/>
                <c:pt idx="0">
                  <c:v>Software</c:v>
                </c:pt>
                <c:pt idx="1">
                  <c:v>AI / ML</c:v>
                </c:pt>
                <c:pt idx="2">
                  <c:v>Data</c:v>
                </c:pt>
                <c:pt idx="3">
                  <c:v>Infrastructure</c:v>
                </c:pt>
                <c:pt idx="4">
                  <c:v>Product / design</c:v>
                </c:pt>
                <c:pt idx="5">
                  <c:v>Other technical</c:v>
                </c:pt>
              </c:strCache>
            </c:strRef>
          </c:cat>
          <c:val>
            <c:numRef>
              <c:f>'Chart Data'!$B$2:$B$7</c:f>
              <c:numCache>
                <c:formatCode>General</c:formatCode>
                <c:ptCount val="6"/>
                <c:pt idx="0">
                  <c:v>902</c:v>
                </c:pt>
                <c:pt idx="1">
                  <c:v>347</c:v>
                </c:pt>
                <c:pt idx="2">
                  <c:v>178</c:v>
                </c:pt>
                <c:pt idx="3">
                  <c:v>197</c:v>
                </c:pt>
                <c:pt idx="4">
                  <c:v>242</c:v>
                </c:pt>
                <c:pt idx="5">
                  <c:v>455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45E"/>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crossAx val="48650112"/>
        <c:crossBetween val="between"/>
      </c:valAx>
      <c:spPr>
        <a:solidFill xmlns:a="http://schemas.openxmlformats.org/drawingml/2006/main">
          <a:srgbClr val="F5F5EE"/>
        </a:solidFill>
      </c:spPr>
    </c:plotArea>
    <c:plotVisOnly val="1"/>
  </c:chart>
  <c:spPr>
    <a:solidFill xmlns:a="http://schemas.openxmlformats.org/drawingml/2006/main">
      <a:srgbClr val="F5F5E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71C893-3148-45B1-992C-BA9A44A2A886}"/>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9517cb33abc4d7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058C98-6AA0-4B5F-B792-A95562CAF893}"/>
              </a:ext>
            </a:extLst>
          </p:cNvPr>
          <p:cNvSpPr>
            <a:spLocks xmlns:a="http://schemas.openxmlformats.org/drawingml/2006/main" noGrp="1"/>
          </p:cNvSpPr>
          <p:nvPr/>
        </p:nvSpPr>
        <p:spPr>
          <a:xfrm xmlns:a="http://schemas.openxmlformats.org/drawingml/2006/main">
            <a:off x="609600" y="1581150"/>
            <a:ext cx="6143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Second</a:t>
            </a:r>
          </a:p>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Nature</a:t>
            </a:r>
          </a:p>
        </p:txBody>
      </p:sp>
      <p:sp>
        <p:nvSpPr>
          <p:cNvPr id="4" name="">
            <a:extLst xmlns:a="http://schemas.openxmlformats.org/drawingml/2006/main">
              <a:ext uri="{FF2B5EF4-FFF2-40B4-BE49-F238E27FC236}">
                <a16:creationId xmlns:a16="http://schemas.microsoft.com/office/drawing/2014/main" id="{19319EF6-B426-4348-912A-657A2B87AF5C}"/>
              </a:ext>
            </a:extLst>
          </p:cNvPr>
          <p:cNvSpPr>
            <a:spLocks xmlns:a="http://schemas.openxmlformats.org/drawingml/2006/main" noGrp="1"/>
          </p:cNvSpPr>
          <p:nvPr/>
        </p:nvSpPr>
        <p:spPr>
          <a:xfrm xmlns:a="http://schemas.openxmlformats.org/drawingml/2006/main">
            <a:off x="647700" y="3876675"/>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A job-search agent that learns</a:t>
            </a:r>
          </a:p>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from every decision</a:t>
            </a:r>
          </a:p>
        </p:txBody>
      </p:sp>
      <p:sp>
        <p:nvSpPr>
          <p:cNvPr id="5" name="">
            <a:extLst xmlns:a="http://schemas.openxmlformats.org/drawingml/2006/main">
              <a:ext uri="{FF2B5EF4-FFF2-40B4-BE49-F238E27FC236}">
                <a16:creationId xmlns:a16="http://schemas.microsoft.com/office/drawing/2014/main" id="{7EFC574A-B6FF-4DFE-A31D-7E2EB3244663}"/>
              </a:ext>
            </a:extLst>
          </p:cNvPr>
          <p:cNvSpPr>
            <a:spLocks xmlns:a="http://schemas.openxmlformats.org/drawingml/2006/main" noGrp="1"/>
          </p:cNvSpPr>
          <p:nvPr/>
        </p:nvSpPr>
        <p:spPr>
          <a:xfrm xmlns:a="http://schemas.openxmlformats.org/drawingml/2006/main">
            <a:off x="647700" y="5762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3-hour MVP</a:t>
            </a:r>
          </a:p>
        </p:txBody>
      </p:sp>
    </p:spTree>
    <p:extLst>
      <p:ext uri="{BB962C8B-B14F-4D97-AF65-F5344CB8AC3E}">
        <p14:creationId xmlns:p14="http://schemas.microsoft.com/office/powerpoint/2010/main" val="1959793955"/>
      </p:ext>
    </p:extLst>
  </p:cSld>
</p:sld>
</file>

<file path=ppt/slides/slide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AA20A5-B191-4F5F-80D9-BC201003F08A}"/>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repeated work in a job search</a:t>
            </a:r>
          </a:p>
        </p:txBody>
      </p:sp>
      <p:sp>
        <p:nvSpPr>
          <p:cNvPr id="2" name="">
            <a:extLst xmlns:a="http://schemas.openxmlformats.org/drawingml/2006/main">
              <a:ext uri="{FF2B5EF4-FFF2-40B4-BE49-F238E27FC236}">
                <a16:creationId xmlns:a16="http://schemas.microsoft.com/office/drawing/2014/main" id="{495384C1-E66A-4A1C-9561-93C735B4927E}"/>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99FDF67-9AFE-4CC7-B5A2-ADA7FD571BA9}"/>
              </a:ext>
            </a:extLst>
          </p:cNvPr>
          <p:cNvSpPr>
            <a:spLocks xmlns:a="http://schemas.openxmlformats.org/drawingml/2006/main" noGrp="1"/>
          </p:cNvSpPr>
          <p:nvPr/>
        </p:nvSpPr>
        <p:spPr>
          <a:xfrm xmlns:a="http://schemas.openxmlformats.org/drawingml/2006/main">
            <a:off x="609600" y="18859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“I already told you</a:t>
            </a:r>
          </a:p>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why that role was wrong.”</a:t>
            </a:r>
          </a:p>
        </p:txBody>
      </p:sp>
      <p:sp>
        <p:nvSpPr>
          <p:cNvPr id="4" name="">
            <a:extLst xmlns:a="http://schemas.openxmlformats.org/drawingml/2006/main">
              <a:ext uri="{FF2B5EF4-FFF2-40B4-BE49-F238E27FC236}">
                <a16:creationId xmlns:a16="http://schemas.microsoft.com/office/drawing/2014/main" id="{3EA04D39-D34F-4919-90AB-3ACBB92A66AD}"/>
              </a:ext>
            </a:extLst>
          </p:cNvPr>
          <p:cNvSpPr>
            <a:spLocks xmlns:a="http://schemas.openxmlformats.org/drawingml/2006/main" noGrp="1"/>
          </p:cNvSpPr>
          <p:nvPr/>
        </p:nvSpPr>
        <p:spPr>
          <a:xfrm xmlns:a="http://schemas.openxmlformats.org/drawingml/2006/main">
            <a:off x="647700" y="3657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job-seeker scenario</a:t>
            </a:r>
          </a:p>
        </p:txBody>
      </p:sp>
      <p:sp>
        <p:nvSpPr>
          <p:cNvPr id="5" name="">
            <a:extLst xmlns:a="http://schemas.openxmlformats.org/drawingml/2006/main">
              <a:ext uri="{FF2B5EF4-FFF2-40B4-BE49-F238E27FC236}">
                <a16:creationId xmlns:a16="http://schemas.microsoft.com/office/drawing/2014/main" id="{5D8A2749-398B-4B11-89A2-90F236860403}"/>
              </a:ext>
            </a:extLst>
          </p:cNvPr>
          <p:cNvSpPr>
            <a:spLocks xmlns:a="http://schemas.openxmlformats.org/drawingml/2006/main" noGrp="1"/>
          </p:cNvSpPr>
          <p:nvPr/>
        </p:nvSpPr>
        <p:spPr>
          <a:xfrm xmlns:a="http://schemas.openxmlformats.org/drawingml/2006/main">
            <a:off x="64770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shortlist</a:t>
            </a:r>
          </a:p>
        </p:txBody>
      </p:sp>
      <p:sp>
        <p:nvSpPr>
          <p:cNvPr id="6" name="">
            <a:extLst xmlns:a="http://schemas.openxmlformats.org/drawingml/2006/main">
              <a:ext uri="{FF2B5EF4-FFF2-40B4-BE49-F238E27FC236}">
                <a16:creationId xmlns:a16="http://schemas.microsoft.com/office/drawing/2014/main" id="{82F3A3E7-B021-4604-A15D-E99257A78167}"/>
              </a:ext>
            </a:extLst>
          </p:cNvPr>
          <p:cNvSpPr>
            <a:spLocks xmlns:a="http://schemas.openxmlformats.org/drawingml/2006/main" noGrp="1"/>
          </p:cNvSpPr>
          <p:nvPr/>
        </p:nvSpPr>
        <p:spPr>
          <a:xfrm xmlns:a="http://schemas.openxmlformats.org/drawingml/2006/main">
            <a:off x="64770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Recheck seniority, location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and the actual work.</a:t>
            </a:r>
          </a:p>
        </p:txBody>
      </p:sp>
      <p:sp>
        <p:nvSpPr>
          <p:cNvPr id="7" name="">
            <a:extLst xmlns:a="http://schemas.openxmlformats.org/drawingml/2006/main">
              <a:ext uri="{FF2B5EF4-FFF2-40B4-BE49-F238E27FC236}">
                <a16:creationId xmlns:a16="http://schemas.microsoft.com/office/drawing/2014/main" id="{FB423131-ED3A-423D-B65D-ADAA8A1B0FDC}"/>
              </a:ext>
            </a:extLst>
          </p:cNvPr>
          <p:cNvSpPr>
            <a:spLocks xmlns:a="http://schemas.openxmlformats.org/drawingml/2006/main" noGrp="1"/>
          </p:cNvSpPr>
          <p:nvPr/>
        </p:nvSpPr>
        <p:spPr>
          <a:xfrm xmlns:a="http://schemas.openxmlformats.org/drawingml/2006/main">
            <a:off x="4333875"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application</a:t>
            </a:r>
          </a:p>
        </p:txBody>
      </p:sp>
      <p:sp>
        <p:nvSpPr>
          <p:cNvPr id="8" name="">
            <a:extLst xmlns:a="http://schemas.openxmlformats.org/drawingml/2006/main">
              <a:ext uri="{FF2B5EF4-FFF2-40B4-BE49-F238E27FC236}">
                <a16:creationId xmlns:a16="http://schemas.microsoft.com/office/drawing/2014/main" id="{2F80C84A-D955-4F8C-AAA5-3345CD283575}"/>
              </a:ext>
            </a:extLst>
          </p:cNvPr>
          <p:cNvSpPr>
            <a:spLocks xmlns:a="http://schemas.openxmlformats.org/drawingml/2006/main" noGrp="1"/>
          </p:cNvSpPr>
          <p:nvPr/>
        </p:nvSpPr>
        <p:spPr>
          <a:xfrm xmlns:a="http://schemas.openxmlformats.org/drawingml/2006/main">
            <a:off x="4333875"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Repeat facts already</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confirmed elsewhere.</a:t>
            </a:r>
          </a:p>
        </p:txBody>
      </p:sp>
      <p:sp>
        <p:nvSpPr>
          <p:cNvPr id="9" name="">
            <a:extLst xmlns:a="http://schemas.openxmlformats.org/drawingml/2006/main">
              <a:ext uri="{FF2B5EF4-FFF2-40B4-BE49-F238E27FC236}">
                <a16:creationId xmlns:a16="http://schemas.microsoft.com/office/drawing/2014/main" id="{51E319EF-C973-4616-8F69-9D88DF678651}"/>
              </a:ext>
            </a:extLst>
          </p:cNvPr>
          <p:cNvSpPr>
            <a:spLocks xmlns:a="http://schemas.openxmlformats.org/drawingml/2006/main" noGrp="1"/>
          </p:cNvSpPr>
          <p:nvPr/>
        </p:nvSpPr>
        <p:spPr>
          <a:xfrm xmlns:a="http://schemas.openxmlformats.org/drawingml/2006/main">
            <a:off x="802005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correction</a:t>
            </a:r>
          </a:p>
        </p:txBody>
      </p:sp>
      <p:sp>
        <p:nvSpPr>
          <p:cNvPr id="10" name="">
            <a:extLst xmlns:a="http://schemas.openxmlformats.org/drawingml/2006/main">
              <a:ext uri="{FF2B5EF4-FFF2-40B4-BE49-F238E27FC236}">
                <a16:creationId xmlns:a16="http://schemas.microsoft.com/office/drawing/2014/main" id="{BC098197-5C5E-4F32-87E4-B5D9AF1B7DD8}"/>
              </a:ext>
            </a:extLst>
          </p:cNvPr>
          <p:cNvSpPr>
            <a:spLocks xmlns:a="http://schemas.openxmlformats.org/drawingml/2006/main" noGrp="1"/>
          </p:cNvSpPr>
          <p:nvPr/>
        </p:nvSpPr>
        <p:spPr>
          <a:xfrm xmlns:a="http://schemas.openxmlformats.org/drawingml/2006/main">
            <a:off x="802005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same preference</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one more time.</a:t>
            </a:r>
          </a:p>
        </p:txBody>
      </p:sp>
    </p:spTree>
    <p:extLst>
      <p:ext uri="{BB962C8B-B14F-4D97-AF65-F5344CB8AC3E}">
        <p14:creationId xmlns:p14="http://schemas.microsoft.com/office/powerpoint/2010/main" val="1138662388"/>
      </p:ext>
    </p:extLst>
  </p:cSld>
</p:sld>
</file>

<file path=ppt/slides/slide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B23E51-A302-4F5B-9C0C-45645CA83CD5}"/>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crowded market, a specific product bet</a:t>
            </a:r>
          </a:p>
        </p:txBody>
      </p:sp>
      <p:sp>
        <p:nvSpPr>
          <p:cNvPr id="2" name="">
            <a:extLst xmlns:a="http://schemas.openxmlformats.org/drawingml/2006/main">
              <a:ext uri="{FF2B5EF4-FFF2-40B4-BE49-F238E27FC236}">
                <a16:creationId xmlns:a16="http://schemas.microsoft.com/office/drawing/2014/main" id="{63BE7A33-A18D-453E-9DD9-543EB003A67B}"/>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03</a:t>
            </a:r>
          </a:p>
        </p:txBody>
      </p:sp>
      <p:graphicFrame>
        <p:nvGraphicFramePr>
          <p:cNvPr id="8" name=""/>
          <p:cNvGraphicFramePr/>
          <p:nvPr/>
        </p:nvGraphicFramePr>
        <p:xfrm>
          <a:off xmlns:a="http://schemas.openxmlformats.org/drawingml/2006/main" x="609600" y="1657350"/>
          <a:ext xmlns:a="http://schemas.openxmlformats.org/drawingml/2006/main" cx="10953750" cy="2971800"/>
        </p:xfrm>
        <a:graphic xmlns:a="http://schemas.openxmlformats.org/drawingml/2006/main">
          <a:graphicData uri="http://schemas.openxmlformats.org/drawingml/2006/table">
            <a:tbl>
              <a:tblPr/>
              <a:tblGrid>
                <a:gridCol w="2381250"/>
                <a:gridCol w="8572500"/>
              </a:tblGrid>
              <a:tr h="742950">
                <a:tc>
                  <a:txBody>
                    <a:bodyPr/>
                    <a:lstStyle/>
                    <a:p>
                      <a:r>
                        <a:rPr sz="2100" b="1">
                          <a:solidFill>
                            <a:srgbClr val="FFFFFF"/>
                          </a:solidFill>
                          <a:latin typeface="Arial"/>
                          <a:ea typeface="Arial"/>
                          <a:cs typeface="Arial"/>
                        </a:rPr>
                        <a:t>Product</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Publicly described strength</a:t>
                      </a:r>
                    </a:p>
                  </a:txBody>
                  <a:tcPr marL="152400" marR="152400" marT="114300" marB="114300" anchor="ctr">
                    <a:solidFill>
                      <a:srgbClr val="147C61"/>
                    </a:solidFill>
                  </a:tcPr>
                </a:tc>
              </a:tr>
              <a:tr h="742950">
                <a:tc>
                  <a:txBody>
                    <a:bodyPr/>
                    <a:lstStyle/>
                    <a:p>
                      <a:r>
                        <a:rPr sz="2100" b="1">
                          <a:solidFill>
                            <a:srgbClr val="152B27"/>
                          </a:solidFill>
                          <a:latin typeface="Arial"/>
                          <a:ea typeface="Arial"/>
                          <a:cs typeface="Arial"/>
                        </a:rPr>
                        <a:t>Simplify</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Application autofill and answer reuse</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Teal</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Tailored resumes and job tracking</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Jobright</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Profile-based matching and match scores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3CD73F96-4B06-4E60-8714-54096B2B410E}"/>
              </a:ext>
            </a:extLst>
          </p:cNvPr>
          <p:cNvSpPr>
            <a:spLocks xmlns:a="http://schemas.openxmlformats.org/drawingml/2006/main" noGrp="1"/>
          </p:cNvSpPr>
          <p:nvPr/>
        </p:nvSpPr>
        <p:spPr>
          <a:xfrm xmlns:a="http://schemas.openxmlformats.org/drawingml/2006/main">
            <a:off x="609600" y="51054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7C61"/>
                </a:solidFill>
                <a:latin typeface="Arial"/>
                <a:ea typeface="Arial"/>
                <a:cs typeface="Arial"/>
              </a:defRPr>
            </a:pPr>
            <a:r>
              <a:rPr sz="2550" b="1">
                <a:solidFill>
                  <a:srgbClr val="147C61"/>
                </a:solidFill>
                <a:latin typeface="Arial"/>
                <a:ea typeface="Arial"/>
                <a:cs typeface="Arial"/>
              </a:rPr>
              <a:t>Our bet: auditable learning across repeated runs</a:t>
            </a:r>
          </a:p>
        </p:txBody>
      </p:sp>
      <p:sp>
        <p:nvSpPr>
          <p:cNvPr id="5" name="">
            <a:extLst xmlns:a="http://schemas.openxmlformats.org/drawingml/2006/main">
              <a:ext uri="{FF2B5EF4-FFF2-40B4-BE49-F238E27FC236}">
                <a16:creationId xmlns:a16="http://schemas.microsoft.com/office/drawing/2014/main" id="{A0917451-867D-40C8-9B5D-EB81E7B0EE2F}"/>
              </a:ext>
            </a:extLst>
          </p:cNvPr>
          <p:cNvSpPr>
            <a:spLocks xmlns:a="http://schemas.openxmlformats.org/drawingml/2006/main" noGrp="1"/>
          </p:cNvSpPr>
          <p:nvPr/>
        </p:nvSpPr>
        <p:spPr>
          <a:xfrm xmlns:a="http://schemas.openxmlformats.org/drawingml/2006/main">
            <a:off x="609600" y="56959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27"/>
                </a:solidFill>
                <a:latin typeface="Arial"/>
                <a:ea typeface="Arial"/>
                <a:cs typeface="Arial"/>
              </a:defRPr>
            </a:pPr>
            <a:r>
              <a:rPr sz="1950" b="0">
                <a:solidFill>
                  <a:srgbClr val="152B27"/>
                </a:solidFill>
                <a:latin typeface="Arial"/>
                <a:ea typeface="Arial"/>
                <a:cs typeface="Arial"/>
              </a:rPr>
              <a:t>Visible memory, workflow replay and user-controlled autonomy</a:t>
            </a:r>
          </a:p>
        </p:txBody>
      </p:sp>
    </p:spTree>
    <p:extLst>
      <p:ext uri="{BB962C8B-B14F-4D97-AF65-F5344CB8AC3E}">
        <p14:creationId xmlns:p14="http://schemas.microsoft.com/office/powerpoint/2010/main" val="955360287"/>
      </p:ext>
    </p:extLst>
  </p:cSld>
</p:sld>
</file>

<file path=ppt/slides/slide4.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210003-8764-4F43-9098-EC6D1D385AE7}"/>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product loop</a:t>
            </a:r>
          </a:p>
        </p:txBody>
      </p:sp>
      <p:sp>
        <p:nvSpPr>
          <p:cNvPr id="2" name="">
            <a:extLst xmlns:a="http://schemas.openxmlformats.org/drawingml/2006/main">
              <a:ext uri="{FF2B5EF4-FFF2-40B4-BE49-F238E27FC236}">
                <a16:creationId xmlns:a16="http://schemas.microsoft.com/office/drawing/2014/main" id="{65F04932-77F2-4A0D-87A8-3359D39E91B2}"/>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ED0F3820-4439-4617-99D9-6DFF3AD56B24}"/>
              </a:ext>
            </a:extLst>
          </p:cNvPr>
          <p:cNvSpPr>
            <a:spLocks xmlns:a="http://schemas.openxmlformats.org/drawingml/2006/main" noGrp="1"/>
          </p:cNvSpPr>
          <p:nvPr/>
        </p:nvSpPr>
        <p:spPr>
          <a:xfrm xmlns:a="http://schemas.openxmlformats.org/drawingml/2006/main">
            <a:off x="6096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5A45A93-426E-40CD-887B-9BE02840CEB8}"/>
              </a:ext>
            </a:extLst>
          </p:cNvPr>
          <p:cNvSpPr>
            <a:spLocks xmlns:a="http://schemas.openxmlformats.org/drawingml/2006/main" noGrp="1"/>
          </p:cNvSpPr>
          <p:nvPr/>
        </p:nvSpPr>
        <p:spPr>
          <a:xfrm xmlns:a="http://schemas.openxmlformats.org/drawingml/2006/main">
            <a:off x="6096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Verify</a:t>
            </a:r>
          </a:p>
        </p:txBody>
      </p:sp>
      <p:sp>
        <p:nvSpPr>
          <p:cNvPr id="5" name="">
            <a:extLst xmlns:a="http://schemas.openxmlformats.org/drawingml/2006/main">
              <a:ext uri="{FF2B5EF4-FFF2-40B4-BE49-F238E27FC236}">
                <a16:creationId xmlns:a16="http://schemas.microsoft.com/office/drawing/2014/main" id="{F288C97E-34D7-454F-939A-17FFB92CD04F}"/>
              </a:ext>
            </a:extLst>
          </p:cNvPr>
          <p:cNvSpPr>
            <a:spLocks xmlns:a="http://schemas.openxmlformats.org/drawingml/2006/main" noGrp="1"/>
          </p:cNvSpPr>
          <p:nvPr/>
        </p:nvSpPr>
        <p:spPr>
          <a:xfrm xmlns:a="http://schemas.openxmlformats.org/drawingml/2006/main">
            <a:off x="6096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Resume facts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standard answers</a:t>
            </a:r>
          </a:p>
        </p:txBody>
      </p:sp>
      <p:sp>
        <p:nvSpPr>
          <p:cNvPr id="6" name="">
            <a:extLst xmlns:a="http://schemas.openxmlformats.org/drawingml/2006/main">
              <a:ext uri="{FF2B5EF4-FFF2-40B4-BE49-F238E27FC236}">
                <a16:creationId xmlns:a16="http://schemas.microsoft.com/office/drawing/2014/main" id="{E5DC27CA-1ACC-4842-B3BC-CBF40E1B6C64}"/>
              </a:ext>
            </a:extLst>
          </p:cNvPr>
          <p:cNvSpPr>
            <a:spLocks xmlns:a="http://schemas.openxmlformats.org/drawingml/2006/main" noGrp="1"/>
          </p:cNvSpPr>
          <p:nvPr/>
        </p:nvSpPr>
        <p:spPr>
          <a:xfrm xmlns:a="http://schemas.openxmlformats.org/drawingml/2006/main">
            <a:off x="34099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C0DB49C-7A0F-4B70-B26B-35F147011532}"/>
              </a:ext>
            </a:extLst>
          </p:cNvPr>
          <p:cNvSpPr>
            <a:spLocks xmlns:a="http://schemas.openxmlformats.org/drawingml/2006/main" noGrp="1"/>
          </p:cNvSpPr>
          <p:nvPr/>
        </p:nvSpPr>
        <p:spPr>
          <a:xfrm xmlns:a="http://schemas.openxmlformats.org/drawingml/2006/main">
            <a:off x="34099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Judge</a:t>
            </a:r>
          </a:p>
        </p:txBody>
      </p:sp>
      <p:sp>
        <p:nvSpPr>
          <p:cNvPr id="8" name="">
            <a:extLst xmlns:a="http://schemas.openxmlformats.org/drawingml/2006/main">
              <a:ext uri="{FF2B5EF4-FFF2-40B4-BE49-F238E27FC236}">
                <a16:creationId xmlns:a16="http://schemas.microsoft.com/office/drawing/2014/main" id="{2DAA6A40-DFA5-4C4D-B901-1A667803E50A}"/>
              </a:ext>
            </a:extLst>
          </p:cNvPr>
          <p:cNvSpPr>
            <a:spLocks xmlns:a="http://schemas.openxmlformats.org/drawingml/2006/main" noGrp="1"/>
          </p:cNvSpPr>
          <p:nvPr/>
        </p:nvSpPr>
        <p:spPr>
          <a:xfrm xmlns:a="http://schemas.openxmlformats.org/drawingml/2006/main">
            <a:off x="34099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Rank roles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match</a:t>
            </a:r>
          </a:p>
        </p:txBody>
      </p:sp>
      <p:sp>
        <p:nvSpPr>
          <p:cNvPr id="9" name="">
            <a:extLst xmlns:a="http://schemas.openxmlformats.org/drawingml/2006/main">
              <a:ext uri="{FF2B5EF4-FFF2-40B4-BE49-F238E27FC236}">
                <a16:creationId xmlns:a16="http://schemas.microsoft.com/office/drawing/2014/main" id="{7CFF8E6C-757F-42CF-BEB8-C993452C9C63}"/>
              </a:ext>
            </a:extLst>
          </p:cNvPr>
          <p:cNvSpPr>
            <a:spLocks xmlns:a="http://schemas.openxmlformats.org/drawingml/2006/main" noGrp="1"/>
          </p:cNvSpPr>
          <p:nvPr/>
        </p:nvSpPr>
        <p:spPr>
          <a:xfrm xmlns:a="http://schemas.openxmlformats.org/drawingml/2006/main">
            <a:off x="62103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73F0FE9-8E00-45E9-8203-056BB459A24D}"/>
              </a:ext>
            </a:extLst>
          </p:cNvPr>
          <p:cNvSpPr>
            <a:spLocks xmlns:a="http://schemas.openxmlformats.org/drawingml/2006/main" noGrp="1"/>
          </p:cNvSpPr>
          <p:nvPr/>
        </p:nvSpPr>
        <p:spPr>
          <a:xfrm xmlns:a="http://schemas.openxmlformats.org/drawingml/2006/main">
            <a:off x="62103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Learn</a:t>
            </a:r>
          </a:p>
        </p:txBody>
      </p:sp>
      <p:sp>
        <p:nvSpPr>
          <p:cNvPr id="11" name="">
            <a:extLst xmlns:a="http://schemas.openxmlformats.org/drawingml/2006/main">
              <a:ext uri="{FF2B5EF4-FFF2-40B4-BE49-F238E27FC236}">
                <a16:creationId xmlns:a16="http://schemas.microsoft.com/office/drawing/2014/main" id="{C828F3AC-3DC6-4BE6-8BD2-ED90260F67F5}"/>
              </a:ext>
            </a:extLst>
          </p:cNvPr>
          <p:cNvSpPr>
            <a:spLocks xmlns:a="http://schemas.openxmlformats.org/drawingml/2006/main" noGrp="1"/>
          </p:cNvSpPr>
          <p:nvPr/>
        </p:nvSpPr>
        <p:spPr>
          <a:xfrm xmlns:a="http://schemas.openxmlformats.org/drawingml/2006/main">
            <a:off x="62103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Keep or skip, then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 a preference</a:t>
            </a:r>
          </a:p>
        </p:txBody>
      </p:sp>
      <p:sp>
        <p:nvSpPr>
          <p:cNvPr id="12" name="">
            <a:extLst xmlns:a="http://schemas.openxmlformats.org/drawingml/2006/main">
              <a:ext uri="{FF2B5EF4-FFF2-40B4-BE49-F238E27FC236}">
                <a16:creationId xmlns:a16="http://schemas.microsoft.com/office/drawing/2014/main" id="{76D29D3B-AB40-4A18-947F-0864AFEFFDFD}"/>
              </a:ext>
            </a:extLst>
          </p:cNvPr>
          <p:cNvSpPr>
            <a:spLocks xmlns:a="http://schemas.openxmlformats.org/drawingml/2006/main" noGrp="1"/>
          </p:cNvSpPr>
          <p:nvPr/>
        </p:nvSpPr>
        <p:spPr>
          <a:xfrm xmlns:a="http://schemas.openxmlformats.org/drawingml/2006/main">
            <a:off x="90106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5B2F8366-2384-4129-B371-D4ED012BE7EC}"/>
              </a:ext>
            </a:extLst>
          </p:cNvPr>
          <p:cNvSpPr>
            <a:spLocks xmlns:a="http://schemas.openxmlformats.org/drawingml/2006/main" noGrp="1"/>
          </p:cNvSpPr>
          <p:nvPr/>
        </p:nvSpPr>
        <p:spPr>
          <a:xfrm xmlns:a="http://schemas.openxmlformats.org/drawingml/2006/main">
            <a:off x="90106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Reuse</a:t>
            </a:r>
          </a:p>
        </p:txBody>
      </p:sp>
      <p:sp>
        <p:nvSpPr>
          <p:cNvPr id="14" name="">
            <a:extLst xmlns:a="http://schemas.openxmlformats.org/drawingml/2006/main">
              <a:ext uri="{FF2B5EF4-FFF2-40B4-BE49-F238E27FC236}">
                <a16:creationId xmlns:a16="http://schemas.microsoft.com/office/drawing/2014/main" id="{8BBE8EE5-9748-425A-88F5-7B5A665D9E94}"/>
              </a:ext>
            </a:extLst>
          </p:cNvPr>
          <p:cNvSpPr>
            <a:spLocks xmlns:a="http://schemas.openxmlformats.org/drawingml/2006/main" noGrp="1"/>
          </p:cNvSpPr>
          <p:nvPr/>
        </p:nvSpPr>
        <p:spPr>
          <a:xfrm xmlns:a="http://schemas.openxmlformats.org/drawingml/2006/main">
            <a:off x="90106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Prepare a pack with</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known answers</a:t>
            </a:r>
          </a:p>
        </p:txBody>
      </p:sp>
      <p:sp>
        <p:nvSpPr>
          <p:cNvPr id="15" name="">
            <a:extLst xmlns:a="http://schemas.openxmlformats.org/drawingml/2006/main">
              <a:ext uri="{FF2B5EF4-FFF2-40B4-BE49-F238E27FC236}">
                <a16:creationId xmlns:a16="http://schemas.microsoft.com/office/drawing/2014/main" id="{7A220011-6106-4397-91CF-50A9EEA363C7}"/>
              </a:ext>
            </a:extLst>
          </p:cNvPr>
          <p:cNvSpPr>
            <a:spLocks xmlns:a="http://schemas.openxmlformats.org/drawingml/2006/main" noGrp="1"/>
          </p:cNvSpPr>
          <p:nvPr/>
        </p:nvSpPr>
        <p:spPr>
          <a:xfrm xmlns:a="http://schemas.openxmlformats.org/drawingml/2006/main">
            <a:off x="609600" y="5048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B27"/>
                </a:solidFill>
                <a:latin typeface="Arial"/>
                <a:ea typeface="Arial"/>
                <a:cs typeface="Arial"/>
              </a:defRPr>
            </a:pPr>
            <a:r>
              <a:rPr sz="2400" b="1">
                <a:solidFill>
                  <a:srgbClr val="152B27"/>
                </a:solidFill>
                <a:latin typeface="Arial"/>
                <a:ea typeface="Arial"/>
                <a:cs typeface="Arial"/>
              </a:rPr>
              <a:t>“This role fits your verified skills and avoids the seniority you rejected.”</a:t>
            </a:r>
          </a:p>
        </p:txBody>
      </p:sp>
      <p:sp>
        <p:nvSpPr>
          <p:cNvPr id="16" name="">
            <a:extLst xmlns:a="http://schemas.openxmlformats.org/drawingml/2006/main">
              <a:ext uri="{FF2B5EF4-FFF2-40B4-BE49-F238E27FC236}">
                <a16:creationId xmlns:a16="http://schemas.microsoft.com/office/drawing/2014/main" id="{987CC8DA-3393-4719-8F12-4E04D0820037}"/>
              </a:ext>
            </a:extLst>
          </p:cNvPr>
          <p:cNvSpPr>
            <a:spLocks xmlns:a="http://schemas.openxmlformats.org/drawingml/2006/main" noGrp="1"/>
          </p:cNvSpPr>
          <p:nvPr/>
        </p:nvSpPr>
        <p:spPr>
          <a:xfrm xmlns:a="http://schemas.openxmlformats.org/drawingml/2006/main">
            <a:off x="609600" y="59531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explanation. Final submission stays with the job seeker.</a:t>
            </a:r>
          </a:p>
        </p:txBody>
      </p:sp>
    </p:spTree>
    <p:extLst>
      <p:ext uri="{BB962C8B-B14F-4D97-AF65-F5344CB8AC3E}">
        <p14:creationId xmlns:p14="http://schemas.microsoft.com/office/powerpoint/2010/main" val="1463216983"/>
      </p:ext>
    </p:extLst>
  </p:cSld>
</p:sld>
</file>

<file path=ppt/slides/slide5.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82199F-90CF-4DF5-BB45-DA0F55D57008}"/>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real corpus, already in Hotdata</a:t>
            </a:r>
          </a:p>
        </p:txBody>
      </p:sp>
      <p:sp>
        <p:nvSpPr>
          <p:cNvPr id="2" name="">
            <a:extLst xmlns:a="http://schemas.openxmlformats.org/drawingml/2006/main">
              <a:ext uri="{FF2B5EF4-FFF2-40B4-BE49-F238E27FC236}">
                <a16:creationId xmlns:a16="http://schemas.microsoft.com/office/drawing/2014/main" id="{CE25F71E-E5ED-4DE5-A31C-7731F799FD79}"/>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25ED62D-A015-4A9F-8F0B-E703A11EAAE4}"/>
              </a:ext>
            </a:extLst>
          </p:cNvPr>
          <p:cNvSpPr>
            <a:spLocks xmlns:a="http://schemas.openxmlformats.org/drawingml/2006/main" noGrp="1"/>
          </p:cNvSpPr>
          <p:nvPr/>
        </p:nvSpPr>
        <p:spPr>
          <a:xfrm xmlns:a="http://schemas.openxmlformats.org/drawingml/2006/main">
            <a:off x="609600" y="1666875"/>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147C61"/>
                </a:solidFill>
                <a:latin typeface="Arial"/>
                <a:ea typeface="Arial"/>
                <a:cs typeface="Arial"/>
              </a:defRPr>
            </a:pPr>
            <a:r>
              <a:rPr sz="7200" b="1">
                <a:solidFill>
                  <a:srgbClr val="147C61"/>
                </a:solidFill>
                <a:latin typeface="Arial"/>
                <a:ea typeface="Arial"/>
                <a:cs typeface="Arial"/>
              </a:rPr>
              <a:t>2,321</a:t>
            </a:r>
          </a:p>
        </p:txBody>
      </p:sp>
      <p:sp>
        <p:nvSpPr>
          <p:cNvPr id="4" name="">
            <a:extLst xmlns:a="http://schemas.openxmlformats.org/drawingml/2006/main">
              <a:ext uri="{FF2B5EF4-FFF2-40B4-BE49-F238E27FC236}">
                <a16:creationId xmlns:a16="http://schemas.microsoft.com/office/drawing/2014/main" id="{33397863-8335-45FA-BDEE-2FC53F806576}"/>
              </a:ext>
            </a:extLst>
          </p:cNvPr>
          <p:cNvSpPr>
            <a:spLocks xmlns:a="http://schemas.openxmlformats.org/drawingml/2006/main" noGrp="1"/>
          </p:cNvSpPr>
          <p:nvPr/>
        </p:nvSpPr>
        <p:spPr>
          <a:xfrm xmlns:a="http://schemas.openxmlformats.org/drawingml/2006/main">
            <a:off x="647700" y="28956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2B27"/>
                </a:solidFill>
                <a:latin typeface="Arial"/>
                <a:ea typeface="Arial"/>
                <a:cs typeface="Arial"/>
              </a:defRPr>
            </a:pPr>
            <a:r>
              <a:rPr sz="2325" b="1">
                <a:solidFill>
                  <a:srgbClr val="152B27"/>
                </a:solidFill>
                <a:latin typeface="Arial"/>
                <a:ea typeface="Arial"/>
                <a:cs typeface="Arial"/>
              </a:rPr>
              <a:t>open technical roles</a:t>
            </a:r>
          </a:p>
        </p:txBody>
      </p:sp>
      <p:sp>
        <p:nvSpPr>
          <p:cNvPr id="5" name="">
            <a:extLst xmlns:a="http://schemas.openxmlformats.org/drawingml/2006/main">
              <a:ext uri="{FF2B5EF4-FFF2-40B4-BE49-F238E27FC236}">
                <a16:creationId xmlns:a16="http://schemas.microsoft.com/office/drawing/2014/main" id="{5D5E52B7-AC71-436E-BBD8-266B52671927}"/>
              </a:ext>
            </a:extLst>
          </p:cNvPr>
          <p:cNvSpPr>
            <a:spLocks xmlns:a="http://schemas.openxmlformats.org/drawingml/2006/main" noGrp="1"/>
          </p:cNvSpPr>
          <p:nvPr/>
        </p:nvSpPr>
        <p:spPr>
          <a:xfrm xmlns:a="http://schemas.openxmlformats.org/drawingml/2006/main">
            <a:off x="647700" y="3609975"/>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19 companies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3 public ATS families</a:t>
            </a:r>
          </a:p>
        </p:txBody>
      </p:sp>
      <p:sp>
        <p:nvSpPr>
          <p:cNvPr id="6" name="">
            <a:extLst xmlns:a="http://schemas.openxmlformats.org/drawingml/2006/main">
              <a:ext uri="{FF2B5EF4-FFF2-40B4-BE49-F238E27FC236}">
                <a16:creationId xmlns:a16="http://schemas.microsoft.com/office/drawing/2014/main" id="{D2ECF1F8-954F-4E67-A48E-931C44855D23}"/>
              </a:ext>
            </a:extLst>
          </p:cNvPr>
          <p:cNvSpPr>
            <a:spLocks xmlns:a="http://schemas.openxmlformats.org/drawingml/2006/main" noGrp="1"/>
          </p:cNvSpPr>
          <p:nvPr/>
        </p:nvSpPr>
        <p:spPr>
          <a:xfrm xmlns:a="http://schemas.openxmlformats.org/drawingml/2006/main">
            <a:off x="647700" y="5267325"/>
            <a:ext cx="404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Snapshot: Sep 11, 2026</a:t>
            </a:r>
          </a:p>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US, Canada and remote</a:t>
            </a:r>
          </a:p>
        </p:txBody>
      </p:sp>
      <p:graphicFrame>
        <p:nvGraphicFramePr>
          <p:cNvPr id="14" name="Chart"/>
          <p:cNvGraphicFramePr/>
          <p:nvPr/>
        </p:nvGraphicFramePr>
        <p:xfrm>
          <a:off xmlns:a="http://schemas.openxmlformats.org/drawingml/2006/main" x="5048250" y="1676400"/>
          <a:ext xmlns:a="http://schemas.openxmlformats.org/drawingml/2006/main" cx="6286500" cy="4248150"/>
        </p:xfrm>
        <a:graphic xmlns:a="http://schemas.openxmlformats.org/drawingml/2006/main">
          <a:graphicData uri="http://schemas.openxmlformats.org/drawingml/2006/chart">
            <c:chart xmlns:r="http://schemas.openxmlformats.org/officeDocument/2006/relationships" xmlns:c="http://schemas.openxmlformats.org/drawingml/2006/chart" r:id="R1f92ac5735cd4df9"/>
          </a:graphicData>
        </a:graphic>
      </p:graphicFrame>
    </p:spTree>
    <p:extLst>
      <p:ext uri="{BB962C8B-B14F-4D97-AF65-F5344CB8AC3E}">
        <p14:creationId xmlns:p14="http://schemas.microsoft.com/office/powerpoint/2010/main" val="267399616"/>
      </p:ext>
    </p:extLst>
  </p:cSld>
</p:sld>
</file>

<file path=ppt/slides/slide6.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634973-BE4D-4D9E-B751-B00950D65AAA}"/>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Five technologies, five distinct jobs</a:t>
            </a:r>
          </a:p>
        </p:txBody>
      </p:sp>
      <p:sp>
        <p:nvSpPr>
          <p:cNvPr id="2" name="">
            <a:extLst xmlns:a="http://schemas.openxmlformats.org/drawingml/2006/main">
              <a:ext uri="{FF2B5EF4-FFF2-40B4-BE49-F238E27FC236}">
                <a16:creationId xmlns:a16="http://schemas.microsoft.com/office/drawing/2014/main" id="{06E29CA4-F687-4093-B19A-4784C0DAA04F}"/>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06</a:t>
            </a:r>
          </a:p>
        </p:txBody>
      </p:sp>
      <p:graphicFrame>
        <p:nvGraphicFramePr>
          <p:cNvPr id="7" name=""/>
          <p:cNvGraphicFramePr/>
          <p:nvPr/>
        </p:nvGraphicFramePr>
        <p:xfrm>
          <a:off xmlns:a="http://schemas.openxmlformats.org/drawingml/2006/main" x="609600" y="1562100"/>
          <a:ext xmlns:a="http://schemas.openxmlformats.org/drawingml/2006/main" cx="10953750" cy="3857625"/>
        </p:xfrm>
        <a:graphic xmlns:a="http://schemas.openxmlformats.org/drawingml/2006/main">
          <a:graphicData uri="http://schemas.openxmlformats.org/drawingml/2006/table">
            <a:tbl>
              <a:tblPr/>
              <a:tblGrid>
                <a:gridCol w="1762125"/>
                <a:gridCol w="2047875"/>
                <a:gridCol w="7143750"/>
              </a:tblGrid>
              <a:tr h="642938">
                <a:tc>
                  <a:txBody>
                    <a:bodyPr/>
                    <a:lstStyle/>
                    <a:p>
                      <a:r>
                        <a:rPr sz="1875" b="1">
                          <a:solidFill>
                            <a:srgbClr val="FFFFFF"/>
                          </a:solidFill>
                          <a:latin typeface="Arial"/>
                          <a:ea typeface="Arial"/>
                          <a:cs typeface="Arial"/>
                        </a:rPr>
                        <a:t>Layer</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Technology</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Concrete output</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Structure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Cognee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Claims and preferences with provenance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Memory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HydraDB</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Candidate graph and decision history</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Insight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Hotdata</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Rankable jobs and run-level analytics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Motion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RocketRide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Sequenced tool calls and application packs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Rote / Modiqo</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Recorded tool paths for repeat work</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71D4B859-4765-4307-A700-147146100714}"/>
              </a:ext>
            </a:extLst>
          </p:cNvPr>
          <p:cNvSpPr>
            <a:spLocks xmlns:a="http://schemas.openxmlformats.org/drawingml/2006/main" noGrp="1"/>
          </p:cNvSpPr>
          <p:nvPr/>
        </p:nvSpPr>
        <p:spPr>
          <a:xfrm xmlns:a="http://schemas.openxmlformats.org/drawingml/2006/main">
            <a:off x="609600" y="5762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C61"/>
                </a:solidFill>
                <a:latin typeface="Arial"/>
                <a:ea typeface="Arial"/>
                <a:cs typeface="Arial"/>
              </a:defRPr>
            </a:pPr>
            <a:r>
              <a:rPr sz="1950" b="1">
                <a:solidFill>
                  <a:srgbClr val="147C61"/>
                </a:solidFill>
                <a:latin typeface="Arial"/>
                <a:ea typeface="Arial"/>
                <a:cs typeface="Arial"/>
              </a:rPr>
              <a:t>Snyk checks dependencies and code before the demo.</a:t>
            </a:r>
          </a:p>
        </p:txBody>
      </p:sp>
    </p:spTree>
    <p:extLst>
      <p:ext uri="{BB962C8B-B14F-4D97-AF65-F5344CB8AC3E}">
        <p14:creationId xmlns:p14="http://schemas.microsoft.com/office/powerpoint/2010/main" val="251137708"/>
      </p:ext>
    </p:extLst>
  </p:cSld>
</p:sld>
</file>

<file path=ppt/slides/slide7.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873370-F893-44E3-B08F-9B0EA158D244}"/>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technical choices behind the loop</a:t>
            </a:r>
          </a:p>
        </p:txBody>
      </p:sp>
      <p:sp>
        <p:nvSpPr>
          <p:cNvPr id="2" name="">
            <a:extLst xmlns:a="http://schemas.openxmlformats.org/drawingml/2006/main">
              <a:ext uri="{FF2B5EF4-FFF2-40B4-BE49-F238E27FC236}">
                <a16:creationId xmlns:a16="http://schemas.microsoft.com/office/drawing/2014/main" id="{1A243B48-7A50-49DA-9B19-BDBE8B812A79}"/>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68A4B69-77BA-4713-B1D8-5CBC1CBB246B}"/>
              </a:ext>
            </a:extLst>
          </p:cNvPr>
          <p:cNvSpPr>
            <a:spLocks xmlns:a="http://schemas.openxmlformats.org/drawingml/2006/main" noGrp="1"/>
          </p:cNvSpPr>
          <p:nvPr/>
        </p:nvSpPr>
        <p:spPr>
          <a:xfrm xmlns:a="http://schemas.openxmlformats.org/drawingml/2006/main">
            <a:off x="609600" y="1695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C61"/>
                </a:solidFill>
                <a:latin typeface="Arial"/>
                <a:ea typeface="Arial"/>
                <a:cs typeface="Arial"/>
              </a:defRPr>
            </a:pPr>
            <a:r>
              <a:rPr sz="2700" b="1">
                <a:solidFill>
                  <a:srgbClr val="147C61"/>
                </a:solidFill>
                <a:latin typeface="Arial"/>
                <a:ea typeface="Arial"/>
                <a:cs typeface="Arial"/>
              </a:rPr>
              <a:t>A fixed scorer, richer memory</a:t>
            </a:r>
          </a:p>
        </p:txBody>
      </p:sp>
      <p:sp>
        <p:nvSpPr>
          <p:cNvPr id="4" name="">
            <a:extLst xmlns:a="http://schemas.openxmlformats.org/drawingml/2006/main">
              <a:ext uri="{FF2B5EF4-FFF2-40B4-BE49-F238E27FC236}">
                <a16:creationId xmlns:a16="http://schemas.microsoft.com/office/drawing/2014/main" id="{8B64B297-D33F-45DE-9403-48D2B1A225A6}"/>
              </a:ext>
            </a:extLst>
          </p:cNvPr>
          <p:cNvSpPr>
            <a:spLocks xmlns:a="http://schemas.openxmlformats.org/drawingml/2006/main" noGrp="1"/>
          </p:cNvSpPr>
          <p:nvPr/>
        </p:nvSpPr>
        <p:spPr>
          <a:xfrm xmlns:a="http://schemas.openxmlformats.org/drawingml/2006/main">
            <a:off x="60960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99D72C83-7A59-4B4A-8008-6435A45C48C1}"/>
              </a:ext>
            </a:extLst>
          </p:cNvPr>
          <p:cNvSpPr>
            <a:spLocks xmlns:a="http://schemas.openxmlformats.org/drawingml/2006/main" noGrp="1"/>
          </p:cNvSpPr>
          <p:nvPr/>
        </p:nvSpPr>
        <p:spPr>
          <a:xfrm xmlns:a="http://schemas.openxmlformats.org/drawingml/2006/main">
            <a:off x="60960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Verified coverage</a:t>
            </a:r>
          </a:p>
        </p:txBody>
      </p:sp>
      <p:sp>
        <p:nvSpPr>
          <p:cNvPr id="6" name="">
            <a:extLst xmlns:a="http://schemas.openxmlformats.org/drawingml/2006/main">
              <a:ext uri="{FF2B5EF4-FFF2-40B4-BE49-F238E27FC236}">
                <a16:creationId xmlns:a16="http://schemas.microsoft.com/office/drawing/2014/main" id="{181C3389-21DD-4FC1-B20F-A8C48ED5F7D6}"/>
              </a:ext>
            </a:extLst>
          </p:cNvPr>
          <p:cNvSpPr>
            <a:spLocks xmlns:a="http://schemas.openxmlformats.org/drawingml/2006/main" noGrp="1"/>
          </p:cNvSpPr>
          <p:nvPr/>
        </p:nvSpPr>
        <p:spPr>
          <a:xfrm xmlns:a="http://schemas.openxmlformats.org/drawingml/2006/main">
            <a:off x="4371975"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2457302E-EFC6-44A2-893C-893D16F6B155}"/>
              </a:ext>
            </a:extLst>
          </p:cNvPr>
          <p:cNvSpPr>
            <a:spLocks xmlns:a="http://schemas.openxmlformats.org/drawingml/2006/main" noGrp="1"/>
          </p:cNvSpPr>
          <p:nvPr/>
        </p:nvSpPr>
        <p:spPr>
          <a:xfrm xmlns:a="http://schemas.openxmlformats.org/drawingml/2006/main">
            <a:off x="4371975"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Retrieval relevance</a:t>
            </a:r>
          </a:p>
        </p:txBody>
      </p:sp>
      <p:sp>
        <p:nvSpPr>
          <p:cNvPr id="8" name="">
            <a:extLst xmlns:a="http://schemas.openxmlformats.org/drawingml/2006/main">
              <a:ext uri="{FF2B5EF4-FFF2-40B4-BE49-F238E27FC236}">
                <a16:creationId xmlns:a16="http://schemas.microsoft.com/office/drawing/2014/main" id="{2D64133A-3F64-4DFE-9B1A-57C6E2C901DF}"/>
              </a:ext>
            </a:extLst>
          </p:cNvPr>
          <p:cNvSpPr>
            <a:spLocks xmlns:a="http://schemas.openxmlformats.org/drawingml/2006/main" noGrp="1"/>
          </p:cNvSpPr>
          <p:nvPr/>
        </p:nvSpPr>
        <p:spPr>
          <a:xfrm xmlns:a="http://schemas.openxmlformats.org/drawingml/2006/main">
            <a:off x="813435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25%</a:t>
            </a:r>
          </a:p>
        </p:txBody>
      </p:sp>
      <p:sp>
        <p:nvSpPr>
          <p:cNvPr id="9" name="">
            <a:extLst xmlns:a="http://schemas.openxmlformats.org/drawingml/2006/main">
              <a:ext uri="{FF2B5EF4-FFF2-40B4-BE49-F238E27FC236}">
                <a16:creationId xmlns:a16="http://schemas.microsoft.com/office/drawing/2014/main" id="{F90CF331-7BFA-4DD2-BFC5-4D2AC78C7BE6}"/>
              </a:ext>
            </a:extLst>
          </p:cNvPr>
          <p:cNvSpPr>
            <a:spLocks xmlns:a="http://schemas.openxmlformats.org/drawingml/2006/main" noGrp="1"/>
          </p:cNvSpPr>
          <p:nvPr/>
        </p:nvSpPr>
        <p:spPr>
          <a:xfrm xmlns:a="http://schemas.openxmlformats.org/drawingml/2006/main">
            <a:off x="813435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Preference fit</a:t>
            </a:r>
          </a:p>
        </p:txBody>
      </p:sp>
      <p:sp>
        <p:nvSpPr>
          <p:cNvPr id="10" name="">
            <a:extLst xmlns:a="http://schemas.openxmlformats.org/drawingml/2006/main">
              <a:ext uri="{FF2B5EF4-FFF2-40B4-BE49-F238E27FC236}">
                <a16:creationId xmlns:a16="http://schemas.microsoft.com/office/drawing/2014/main" id="{2E353E5F-EA43-4AE1-9AB6-09CA4A7DC8E9}"/>
              </a:ext>
            </a:extLst>
          </p:cNvPr>
          <p:cNvSpPr>
            <a:spLocks xmlns:a="http://schemas.openxmlformats.org/drawingml/2006/main" noGrp="1"/>
          </p:cNvSpPr>
          <p:nvPr/>
        </p:nvSpPr>
        <p:spPr>
          <a:xfrm xmlns:a="http://schemas.openxmlformats.org/drawingml/2006/main">
            <a:off x="609600" y="48577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Rote: exact replay, partial replay or a new path</a:t>
            </a:r>
          </a:p>
        </p:txBody>
      </p:sp>
      <p:sp>
        <p:nvSpPr>
          <p:cNvPr id="11" name="">
            <a:extLst xmlns:a="http://schemas.openxmlformats.org/drawingml/2006/main">
              <a:ext uri="{FF2B5EF4-FFF2-40B4-BE49-F238E27FC236}">
                <a16:creationId xmlns:a16="http://schemas.microsoft.com/office/drawing/2014/main" id="{41639462-F278-4BEA-A5E8-7020F44D8D38}"/>
              </a:ext>
            </a:extLst>
          </p:cNvPr>
          <p:cNvSpPr>
            <a:spLocks xmlns:a="http://schemas.openxmlformats.org/drawingml/2006/main" noGrp="1"/>
          </p:cNvSpPr>
          <p:nvPr/>
        </p:nvSpPr>
        <p:spPr>
          <a:xfrm xmlns:a="http://schemas.openxmlformats.org/drawingml/2006/main">
            <a:off x="6096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Cited claims in every pack. Autonomy requires user approval.</a:t>
            </a:r>
          </a:p>
        </p:txBody>
      </p:sp>
    </p:spTree>
    <p:extLst>
      <p:ext uri="{BB962C8B-B14F-4D97-AF65-F5344CB8AC3E}">
        <p14:creationId xmlns:p14="http://schemas.microsoft.com/office/powerpoint/2010/main" val="2063513078"/>
      </p:ext>
    </p:extLst>
  </p:cSld>
</p:sld>
</file>

<file path=ppt/slides/slide8.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19A873-8F69-4E0A-8B19-8E154C6D73A5}"/>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Evidence we can stand behind</a:t>
            </a:r>
          </a:p>
        </p:txBody>
      </p:sp>
      <p:sp>
        <p:nvSpPr>
          <p:cNvPr id="2" name="">
            <a:extLst xmlns:a="http://schemas.openxmlformats.org/drawingml/2006/main">
              <a:ext uri="{FF2B5EF4-FFF2-40B4-BE49-F238E27FC236}">
                <a16:creationId xmlns:a16="http://schemas.microsoft.com/office/drawing/2014/main" id="{0D8DD37E-9365-4F1A-B89E-D612BC41EBF3}"/>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6DA5E3F-4CBF-4783-B2E8-2862A47A684E}"/>
              </a:ext>
            </a:extLst>
          </p:cNvPr>
          <p:cNvSpPr>
            <a:spLocks xmlns:a="http://schemas.openxmlformats.org/drawingml/2006/main" noGrp="1"/>
          </p:cNvSpPr>
          <p:nvPr/>
        </p:nvSpPr>
        <p:spPr>
          <a:xfrm xmlns:a="http://schemas.openxmlformats.org/drawingml/2006/main">
            <a:off x="609600" y="1695450"/>
            <a:ext cx="3714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147C61"/>
                </a:solidFill>
                <a:latin typeface="Arial"/>
                <a:ea typeface="Arial"/>
                <a:cs typeface="Arial"/>
              </a:defRPr>
            </a:pPr>
            <a:r>
              <a:rPr sz="7350" b="1">
                <a:solidFill>
                  <a:srgbClr val="147C61"/>
                </a:solidFill>
                <a:latin typeface="Arial"/>
                <a:ea typeface="Arial"/>
                <a:cs typeface="Arial"/>
              </a:rPr>
              <a:t>85</a:t>
            </a:r>
          </a:p>
        </p:txBody>
      </p:sp>
      <p:sp>
        <p:nvSpPr>
          <p:cNvPr id="4" name="">
            <a:extLst xmlns:a="http://schemas.openxmlformats.org/drawingml/2006/main">
              <a:ext uri="{FF2B5EF4-FFF2-40B4-BE49-F238E27FC236}">
                <a16:creationId xmlns:a16="http://schemas.microsoft.com/office/drawing/2014/main" id="{7FA05BE9-A572-4AD0-A797-6763FFA66CDF}"/>
              </a:ext>
            </a:extLst>
          </p:cNvPr>
          <p:cNvSpPr>
            <a:spLocks xmlns:a="http://schemas.openxmlformats.org/drawingml/2006/main" noGrp="1"/>
          </p:cNvSpPr>
          <p:nvPr/>
        </p:nvSpPr>
        <p:spPr>
          <a:xfrm xmlns:a="http://schemas.openxmlformats.org/drawingml/2006/main">
            <a:off x="647700" y="29337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B27"/>
                </a:solidFill>
                <a:latin typeface="Arial"/>
                <a:ea typeface="Arial"/>
                <a:cs typeface="Arial"/>
              </a:defRPr>
            </a:pPr>
            <a:r>
              <a:rPr sz="2250" b="1">
                <a:solidFill>
                  <a:srgbClr val="152B27"/>
                </a:solidFill>
                <a:latin typeface="Arial"/>
                <a:ea typeface="Arial"/>
                <a:cs typeface="Arial"/>
              </a:rPr>
              <a:t>offline tests passed</a:t>
            </a:r>
          </a:p>
        </p:txBody>
      </p:sp>
      <p:sp>
        <p:nvSpPr>
          <p:cNvPr id="5" name="">
            <a:extLst xmlns:a="http://schemas.openxmlformats.org/drawingml/2006/main">
              <a:ext uri="{FF2B5EF4-FFF2-40B4-BE49-F238E27FC236}">
                <a16:creationId xmlns:a16="http://schemas.microsoft.com/office/drawing/2014/main" id="{D9056318-F254-4904-8EBA-B2A73F39E97B}"/>
              </a:ext>
            </a:extLst>
          </p:cNvPr>
          <p:cNvSpPr>
            <a:spLocks xmlns:a="http://schemas.openxmlformats.org/drawingml/2006/main" noGrp="1"/>
          </p:cNvSpPr>
          <p:nvPr/>
        </p:nvSpPr>
        <p:spPr>
          <a:xfrm xmlns:a="http://schemas.openxmlformats.org/drawingml/2006/main">
            <a:off x="647700" y="378142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2,321 jobs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loaded and read back</a:t>
            </a:r>
          </a:p>
        </p:txBody>
      </p:sp>
      <p:sp>
        <p:nvSpPr>
          <p:cNvPr id="6" name="">
            <a:extLst xmlns:a="http://schemas.openxmlformats.org/drawingml/2006/main">
              <a:ext uri="{FF2B5EF4-FFF2-40B4-BE49-F238E27FC236}">
                <a16:creationId xmlns:a16="http://schemas.microsoft.com/office/drawing/2014/main" id="{23DDF437-1AF6-4D63-8312-31A5BA522301}"/>
              </a:ext>
            </a:extLst>
          </p:cNvPr>
          <p:cNvSpPr>
            <a:spLocks xmlns:a="http://schemas.openxmlformats.org/drawingml/2006/main" noGrp="1"/>
          </p:cNvSpPr>
          <p:nvPr/>
        </p:nvSpPr>
        <p:spPr>
          <a:xfrm xmlns:a="http://schemas.openxmlformats.org/drawingml/2006/main">
            <a:off x="647700" y="52673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Live compounding evidence</a:t>
            </a:r>
          </a:p>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is the next demo gate.</a:t>
            </a:r>
          </a:p>
        </p:txBody>
      </p:sp>
      <p:graphicFrame>
        <p:nvGraphicFramePr>
          <p:cNvPr id="15" name=""/>
          <p:cNvGraphicFramePr/>
          <p:nvPr/>
        </p:nvGraphicFramePr>
        <p:xfrm>
          <a:off xmlns:a="http://schemas.openxmlformats.org/drawingml/2006/main" x="4991100" y="1743075"/>
          <a:ext xmlns:a="http://schemas.openxmlformats.org/drawingml/2006/main" cx="6572250" cy="3581400"/>
        </p:xfrm>
        <a:graphic xmlns:a="http://schemas.openxmlformats.org/drawingml/2006/main">
          <a:graphicData uri="http://schemas.openxmlformats.org/drawingml/2006/table">
            <a:tbl>
              <a:tblPr/>
              <a:tblGrid>
                <a:gridCol w="1952625"/>
                <a:gridCol w="4619625"/>
              </a:tblGrid>
              <a:tr h="895350">
                <a:tc>
                  <a:txBody>
                    <a:bodyPr/>
                    <a:lstStyle/>
                    <a:p>
                      <a:r>
                        <a:rPr sz="1875" b="1">
                          <a:solidFill>
                            <a:srgbClr val="FFFFFF"/>
                          </a:solidFill>
                          <a:latin typeface="Arial"/>
                          <a:ea typeface="Arial"/>
                          <a:cs typeface="Arial"/>
                        </a:rPr>
                        <a:t>Measure</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Record on every run</a:t>
                      </a:r>
                    </a:p>
                  </a:txBody>
                  <a:tcPr marL="152400" marR="152400" marT="114300" marB="114300" anchor="ctr">
                    <a:solidFill>
                      <a:srgbClr val="147C61"/>
                    </a:solidFill>
                  </a:tcPr>
                </a:tc>
              </a:tr>
              <a:tr h="895350">
                <a:tc>
                  <a:txBody>
                    <a:bodyPr/>
                    <a:lstStyle/>
                    <a:p>
                      <a:r>
                        <a:rPr sz="1875" b="1">
                          <a:solidFill>
                            <a:srgbClr val="152B27"/>
                          </a:solidFill>
                          <a:latin typeface="Arial"/>
                          <a:ea typeface="Arial"/>
                          <a:cs typeface="Arial"/>
                        </a:rPr>
                        <a:t>Cost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Tokens or a labeled proxy</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Human effort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Questions and approvals</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Judgment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Recall on human-skipped jobs</a:t>
                      </a:r>
                    </a:p>
                  </a:txBody>
                  <a:tcPr marL="152400" marR="152400" marT="114300" marB="114300" anchor="ctr">
                    <a:solidFill>
                      <a:srgbClr val="F5F5EE"/>
                    </a:solidFill>
                  </a:tcPr>
                </a:tc>
              </a:tr>
            </a:tbl>
          </a:graphicData>
        </a:graphic>
      </p:graphicFrame>
      <p:sp>
        <p:nvSpPr>
          <p:cNvPr id="8" name="">
            <a:extLst xmlns:a="http://schemas.openxmlformats.org/drawingml/2006/main">
              <a:ext uri="{FF2B5EF4-FFF2-40B4-BE49-F238E27FC236}">
                <a16:creationId xmlns:a16="http://schemas.microsoft.com/office/drawing/2014/main" id="{09F936BE-343D-425F-9999-3D0DF2C87D7C}"/>
              </a:ext>
            </a:extLst>
          </p:cNvPr>
          <p:cNvSpPr>
            <a:spLocks xmlns:a="http://schemas.openxmlformats.org/drawingml/2006/main" noGrp="1"/>
          </p:cNvSpPr>
          <p:nvPr/>
        </p:nvSpPr>
        <p:spPr>
          <a:xfrm xmlns:a="http://schemas.openxmlformats.org/drawingml/2006/main">
            <a:off x="4991100" y="5695950"/>
            <a:ext cx="642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Cost, effort and judgment together</a:t>
            </a:r>
          </a:p>
        </p:txBody>
      </p:sp>
    </p:spTree>
    <p:extLst>
      <p:ext uri="{BB962C8B-B14F-4D97-AF65-F5344CB8AC3E}">
        <p14:creationId xmlns:p14="http://schemas.microsoft.com/office/powerpoint/2010/main" val="1640944682"/>
      </p:ext>
    </p:extLst>
  </p:cSld>
</p:sld>
</file>

<file path=ppt/slides/slide9.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438843-2744-4E58-902D-04C867053507}"/>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three-hour MVP scope</a:t>
            </a:r>
          </a:p>
        </p:txBody>
      </p:sp>
      <p:sp>
        <p:nvSpPr>
          <p:cNvPr id="2" name="">
            <a:extLst xmlns:a="http://schemas.openxmlformats.org/drawingml/2006/main">
              <a:ext uri="{FF2B5EF4-FFF2-40B4-BE49-F238E27FC236}">
                <a16:creationId xmlns:a16="http://schemas.microsoft.com/office/drawing/2014/main" id="{28DBBB3F-0DD9-4C0E-90C9-28317C45490B}"/>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09</a:t>
            </a:r>
          </a:p>
        </p:txBody>
      </p:sp>
      <p:graphicFrame>
        <p:nvGraphicFramePr>
          <p:cNvPr id="7" name=""/>
          <p:cNvGraphicFramePr/>
          <p:nvPr/>
        </p:nvGraphicFramePr>
        <p:xfrm>
          <a:off xmlns:a="http://schemas.openxmlformats.org/drawingml/2006/main" x="609600" y="1657350"/>
          <a:ext xmlns:a="http://schemas.openxmlformats.org/drawingml/2006/main" cx="10953750" cy="3552825"/>
        </p:xfrm>
        <a:graphic xmlns:a="http://schemas.openxmlformats.org/drawingml/2006/main">
          <a:graphicData uri="http://schemas.openxmlformats.org/drawingml/2006/table">
            <a:tbl>
              <a:tblPr/>
              <a:tblGrid>
                <a:gridCol w="2286000"/>
                <a:gridCol w="8667750"/>
              </a:tblGrid>
              <a:tr h="710565">
                <a:tc>
                  <a:txBody>
                    <a:bodyPr/>
                    <a:lstStyle/>
                    <a:p>
                      <a:r>
                        <a:rPr sz="2100" b="1">
                          <a:solidFill>
                            <a:srgbClr val="FFFFFF"/>
                          </a:solidFill>
                          <a:latin typeface="Arial"/>
                          <a:ea typeface="Arial"/>
                          <a:cs typeface="Arial"/>
                        </a:rPr>
                        <a:t>Time</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Build checkpoint</a:t>
                      </a:r>
                    </a:p>
                  </a:txBody>
                  <a:tcPr marL="152400" marR="152400" marT="114300" marB="114300" anchor="ctr">
                    <a:solidFill>
                      <a:srgbClr val="147C61"/>
                    </a:solidFill>
                  </a:tcPr>
                </a:tc>
              </a:tr>
              <a:tr h="710565">
                <a:tc>
                  <a:txBody>
                    <a:bodyPr/>
                    <a:lstStyle/>
                    <a:p>
                      <a:r>
                        <a:rPr sz="2100" b="1">
                          <a:solidFill>
                            <a:srgbClr val="152B27"/>
                          </a:solidFill>
                          <a:latin typeface="Arial"/>
                          <a:ea typeface="Arial"/>
                          <a:cs typeface="Arial"/>
                        </a:rPr>
                        <a:t>0–30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Freeze input and record a baseline</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30–90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Connect the five sponsor paths</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90–145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Repeat runs with real human feedback</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145–180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Scan, capture traces and rehearse</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F95FF874-1C62-4C9D-A67F-2A3766CFCF3E}"/>
              </a:ext>
            </a:extLst>
          </p:cNvPr>
          <p:cNvSpPr>
            <a:spLocks xmlns:a="http://schemas.openxmlformats.org/drawingml/2006/main" noGrp="1"/>
          </p:cNvSpPr>
          <p:nvPr/>
        </p:nvSpPr>
        <p:spPr>
          <a:xfrm xmlns:a="http://schemas.openxmlformats.org/drawingml/2006/main">
            <a:off x="609600" y="56483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One candidate. One digest. One application pack. One measured loop.</a:t>
            </a:r>
          </a:p>
        </p:txBody>
      </p:sp>
    </p:spTree>
    <p:extLst>
      <p:ext uri="{BB962C8B-B14F-4D97-AF65-F5344CB8AC3E}">
        <p14:creationId xmlns:p14="http://schemas.microsoft.com/office/powerpoint/2010/main" val="1212268198"/>
      </p:ext>
    </p:extLst>
  </p:cSld>
</p:sld>
</file>

<file path=ppt/slides/slide10.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D24FE3-A560-475B-80EC-A6DB31C45187}"/>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An initial market in tech job search</a:t>
            </a:r>
          </a:p>
        </p:txBody>
      </p:sp>
      <p:sp>
        <p:nvSpPr>
          <p:cNvPr id="2" name="">
            <a:extLst xmlns:a="http://schemas.openxmlformats.org/drawingml/2006/main">
              <a:ext uri="{FF2B5EF4-FFF2-40B4-BE49-F238E27FC236}">
                <a16:creationId xmlns:a16="http://schemas.microsoft.com/office/drawing/2014/main" id="{B9750D41-F845-49EB-A975-1E067D3083D5}"/>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0C14D32-B585-4DDE-9FA0-9ED503D2AC47}"/>
              </a:ext>
            </a:extLst>
          </p:cNvPr>
          <p:cNvSpPr>
            <a:spLocks xmlns:a="http://schemas.openxmlformats.org/drawingml/2006/main" noGrp="1"/>
          </p:cNvSpPr>
          <p:nvPr/>
        </p:nvSpPr>
        <p:spPr>
          <a:xfrm xmlns:a="http://schemas.openxmlformats.org/drawingml/2006/main">
            <a:off x="609600" y="1895475"/>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B7E4CD"/>
                </a:solidFill>
                <a:latin typeface="Arial"/>
                <a:ea typeface="Arial"/>
                <a:cs typeface="Arial"/>
              </a:defRPr>
            </a:pPr>
            <a:r>
              <a:rPr sz="8250" b="1">
                <a:solidFill>
                  <a:srgbClr val="B7E4C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0DF6E8E3-0A30-4FFF-9FF4-C37CA64A62CB}"/>
              </a:ext>
            </a:extLst>
          </p:cNvPr>
          <p:cNvSpPr>
            <a:spLocks xmlns:a="http://schemas.openxmlformats.org/drawingml/2006/main" noGrp="1"/>
          </p:cNvSpPr>
          <p:nvPr/>
        </p:nvSpPr>
        <p:spPr>
          <a:xfrm xmlns:a="http://schemas.openxmlformats.org/drawingml/2006/main">
            <a:off x="647700" y="33623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design partners to recruit for the pilot</a:t>
            </a:r>
          </a:p>
        </p:txBody>
      </p:sp>
      <p:sp>
        <p:nvSpPr>
          <p:cNvPr id="5" name="">
            <a:extLst xmlns:a="http://schemas.openxmlformats.org/drawingml/2006/main">
              <a:ext uri="{FF2B5EF4-FFF2-40B4-BE49-F238E27FC236}">
                <a16:creationId xmlns:a16="http://schemas.microsoft.com/office/drawing/2014/main" id="{B03DD7A4-F860-441B-BA04-B4FE5D304FE9}"/>
              </a:ext>
            </a:extLst>
          </p:cNvPr>
          <p:cNvSpPr>
            <a:spLocks xmlns:a="http://schemas.openxmlformats.org/drawingml/2006/main" noGrp="1"/>
          </p:cNvSpPr>
          <p:nvPr/>
        </p:nvSpPr>
        <p:spPr>
          <a:xfrm xmlns:a="http://schemas.openxmlformats.org/drawingml/2006/main">
            <a:off x="647700" y="4238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Developer communities and career coaches</a:t>
            </a:r>
          </a:p>
        </p:txBody>
      </p:sp>
      <p:sp>
        <p:nvSpPr>
          <p:cNvPr id="6" name="">
            <a:extLst xmlns:a="http://schemas.openxmlformats.org/drawingml/2006/main">
              <a:ext uri="{FF2B5EF4-FFF2-40B4-BE49-F238E27FC236}">
                <a16:creationId xmlns:a16="http://schemas.microsoft.com/office/drawing/2014/main" id="{CE7225EB-1ADB-4FD8-AF69-2E88A0C89579}"/>
              </a:ext>
            </a:extLst>
          </p:cNvPr>
          <p:cNvSpPr>
            <a:spLocks xmlns:a="http://schemas.openxmlformats.org/drawingml/2006/main" noGrp="1"/>
          </p:cNvSpPr>
          <p:nvPr/>
        </p:nvSpPr>
        <p:spPr>
          <a:xfrm xmlns:a="http://schemas.openxmlformats.org/drawingml/2006/main">
            <a:off x="647700" y="48863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E4CD"/>
                </a:solidFill>
                <a:latin typeface="Arial"/>
                <a:ea typeface="Arial"/>
                <a:cs typeface="Arial"/>
              </a:defRPr>
            </a:pPr>
            <a:r>
              <a:rPr sz="2250" b="0">
                <a:solidFill>
                  <a:srgbClr val="B7E4CD"/>
                </a:solidFill>
                <a:latin typeface="Arial"/>
                <a:ea typeface="Arial"/>
                <a:cs typeface="Arial"/>
              </a:rPr>
              <a:t>Test a paid subscription during an active search</a:t>
            </a:r>
          </a:p>
        </p:txBody>
      </p:sp>
      <p:sp>
        <p:nvSpPr>
          <p:cNvPr id="7" name="">
            <a:extLst xmlns:a="http://schemas.openxmlformats.org/drawingml/2006/main">
              <a:ext uri="{FF2B5EF4-FFF2-40B4-BE49-F238E27FC236}">
                <a16:creationId xmlns:a16="http://schemas.microsoft.com/office/drawing/2014/main" id="{BBAAC644-2F10-46DF-A5CD-AD1928DC92D7}"/>
              </a:ext>
            </a:extLst>
          </p:cNvPr>
          <p:cNvSpPr>
            <a:spLocks xmlns:a="http://schemas.openxmlformats.org/drawingml/2006/main" noGrp="1"/>
          </p:cNvSpPr>
          <p:nvPr/>
        </p:nvSpPr>
        <p:spPr>
          <a:xfrm xmlns:a="http://schemas.openxmlformats.org/drawingml/2006/main">
            <a:off x="647700" y="58007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Success: less preparation time and shortlists people keep</a:t>
            </a:r>
          </a:p>
        </p:txBody>
      </p:sp>
    </p:spTree>
    <p:extLst>
      <p:ext uri="{BB962C8B-B14F-4D97-AF65-F5344CB8AC3E}">
        <p14:creationId xmlns:p14="http://schemas.microsoft.com/office/powerpoint/2010/main" val="1066702891"/>
      </p:ext>
    </p:extLst>
  </p:cSld>
</p:sld>
</file>

<file path=ppt/slides/slide11.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8523B4-C5D0-408C-A43D-8C34AD4BE8F6}"/>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Demo runbook: one visible learning cycle</a:t>
            </a:r>
          </a:p>
        </p:txBody>
      </p:sp>
      <p:sp>
        <p:nvSpPr>
          <p:cNvPr id="2" name="">
            <a:extLst xmlns:a="http://schemas.openxmlformats.org/drawingml/2006/main">
              <a:ext uri="{FF2B5EF4-FFF2-40B4-BE49-F238E27FC236}">
                <a16:creationId xmlns:a16="http://schemas.microsoft.com/office/drawing/2014/main" id="{2565CE62-3157-4AE5-A8F6-EB62FA1AB4CA}"/>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11</a:t>
            </a:r>
          </a:p>
        </p:txBody>
      </p:sp>
      <p:graphicFrame>
        <p:nvGraphicFramePr>
          <p:cNvPr id="7" name=""/>
          <p:cNvGraphicFramePr/>
          <p:nvPr/>
        </p:nvGraphicFramePr>
        <p:xfrm>
          <a:off xmlns:a="http://schemas.openxmlformats.org/drawingml/2006/main" x="609600" y="1638300"/>
          <a:ext xmlns:a="http://schemas.openxmlformats.org/drawingml/2006/main" cx="10953750" cy="3857625"/>
        </p:xfrm>
        <a:graphic xmlns:a="http://schemas.openxmlformats.org/drawingml/2006/main">
          <a:graphicData uri="http://schemas.openxmlformats.org/drawingml/2006/table">
            <a:tbl>
              <a:tblPr/>
              <a:tblGrid>
                <a:gridCol w="2095500"/>
                <a:gridCol w="8858250"/>
              </a:tblGrid>
              <a:tr h="642938">
                <a:tc>
                  <a:txBody>
                    <a:bodyPr/>
                    <a:lstStyle/>
                    <a:p>
                      <a:r>
                        <a:rPr sz="1875" b="1">
                          <a:solidFill>
                            <a:srgbClr val="FFFFFF"/>
                          </a:solidFill>
                          <a:latin typeface="Arial"/>
                          <a:ea typeface="Arial"/>
                          <a:cs typeface="Arial"/>
                        </a:rPr>
                        <a:t>Beat</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What the audience sees</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Baseline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shortlist and one supported application pack</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Feedback</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repeated skip reason becomes a proposed rule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Confirmation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human approves it and the order changes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Known answers return, while a missing fact stays a question</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Proof</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new run appends observed metrics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545F96D9-EB13-4878-800D-D5E2E523F27A}"/>
              </a:ext>
            </a:extLst>
          </p:cNvPr>
          <p:cNvSpPr>
            <a:spLocks xmlns:a="http://schemas.openxmlformats.org/drawingml/2006/main" noGrp="1"/>
          </p:cNvSpPr>
          <p:nvPr/>
        </p:nvSpPr>
        <p:spPr>
          <a:xfrm xmlns:a="http://schemas.openxmlformats.org/drawingml/2006/main">
            <a:off x="609600" y="57816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Real jobs. Assigned release days. Actual run measurements.</a:t>
            </a:r>
          </a:p>
        </p:txBody>
      </p:sp>
    </p:spTree>
    <p:extLst>
      <p:ext uri="{BB962C8B-B14F-4D97-AF65-F5344CB8AC3E}">
        <p14:creationId xmlns:p14="http://schemas.microsoft.com/office/powerpoint/2010/main" val="1915650315"/>
      </p:ext>
    </p:extLst>
  </p:cSld>
</p:sld>
</file>

<file path=ppt/slides/slide1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BE1928F-EA4E-499C-8D8A-385CF8BBB144}"/>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Technical boundaries and judging checks</a:t>
            </a:r>
          </a:p>
        </p:txBody>
      </p:sp>
      <p:sp>
        <p:nvSpPr>
          <p:cNvPr id="2" name="">
            <a:extLst xmlns:a="http://schemas.openxmlformats.org/drawingml/2006/main">
              <a:ext uri="{FF2B5EF4-FFF2-40B4-BE49-F238E27FC236}">
                <a16:creationId xmlns:a16="http://schemas.microsoft.com/office/drawing/2014/main" id="{F3564941-6759-4C38-B681-862E63AD9320}"/>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12</a:t>
            </a:r>
          </a:p>
        </p:txBody>
      </p:sp>
      <p:graphicFrame>
        <p:nvGraphicFramePr>
          <p:cNvPr id="6" name=""/>
          <p:cNvGraphicFramePr/>
          <p:nvPr/>
        </p:nvGraphicFramePr>
        <p:xfrm>
          <a:off xmlns:a="http://schemas.openxmlformats.org/drawingml/2006/main" x="609600" y="1581150"/>
          <a:ext xmlns:a="http://schemas.openxmlformats.org/drawingml/2006/main" cx="10953750" cy="4114800"/>
        </p:xfrm>
        <a:graphic xmlns:a="http://schemas.openxmlformats.org/drawingml/2006/main">
          <a:graphicData uri="http://schemas.openxmlformats.org/drawingml/2006/table">
            <a:tbl>
              <a:tblPr/>
              <a:tblGrid>
                <a:gridCol w="2571750"/>
                <a:gridCol w="8382000"/>
              </a:tblGrid>
              <a:tr h="685800">
                <a:tc>
                  <a:txBody>
                    <a:bodyPr/>
                    <a:lstStyle/>
                    <a:p>
                      <a:r>
                        <a:rPr sz="1800" b="1">
                          <a:solidFill>
                            <a:srgbClr val="FFFFFF"/>
                          </a:solidFill>
                          <a:latin typeface="Arial"/>
                          <a:ea typeface="Arial"/>
                          <a:cs typeface="Arial"/>
                        </a:rPr>
                        <a:t>Boundary</a:t>
                      </a:r>
                    </a:p>
                  </a:txBody>
                  <a:tcPr marL="152400" marR="152400" marT="114300" marB="114300" anchor="ctr">
                    <a:solidFill>
                      <a:srgbClr val="147C61"/>
                    </a:solidFill>
                  </a:tcPr>
                </a:tc>
                <a:tc>
                  <a:txBody>
                    <a:bodyPr/>
                    <a:lstStyle/>
                    <a:p>
                      <a:r>
                        <a:rPr sz="1800" b="1">
                          <a:solidFill>
                            <a:srgbClr val="FFFFFF"/>
                          </a:solidFill>
                          <a:latin typeface="Arial"/>
                          <a:ea typeface="Arial"/>
                          <a:cs typeface="Arial"/>
                        </a:rPr>
                        <a:t>What we say and show</a:t>
                      </a:r>
                    </a:p>
                  </a:txBody>
                  <a:tcPr marL="152400" marR="152400" marT="114300" marB="114300" anchor="ctr">
                    <a:solidFill>
                      <a:srgbClr val="147C61"/>
                    </a:solidFill>
                  </a:tcPr>
                </a:tc>
              </a:tr>
              <a:tr h="685800">
                <a:tc>
                  <a:txBody>
                    <a:bodyPr/>
                    <a:lstStyle/>
                    <a:p>
                      <a:r>
                        <a:rPr sz="1800" b="1">
                          <a:solidFill>
                            <a:srgbClr val="152B27"/>
                          </a:solidFill>
                          <a:latin typeface="Arial"/>
                          <a:ea typeface="Arial"/>
                          <a:cs typeface="Arial"/>
                        </a:rPr>
                        <a:t>Data freshness</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A real snapshot with an assigned demo release schedule</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Graph execution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Cloud persistence; optional Bolt for server-side Cypher</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Sponsor integration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Repeated live traces, not SDK imports or offline tests</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Security</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Snyk report, cited claims and human submission</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Network</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No board fetch on stage; cloud tools still need connectivity</a:t>
                      </a:r>
                    </a:p>
                  </a:txBody>
                  <a:tcPr marL="152400" marR="152400" marT="114300" marB="114300" anchor="ctr">
                    <a:solidFill>
                      <a:srgbClr val="F5F5EE"/>
                    </a:solidFill>
                  </a:tcPr>
                </a:tc>
              </a:tr>
            </a:tbl>
          </a:graphicData>
        </a:graphic>
      </p:graphicFrame>
    </p:spTree>
    <p:extLst>
      <p:ext uri="{BB962C8B-B14F-4D97-AF65-F5344CB8AC3E}">
        <p14:creationId xmlns:p14="http://schemas.microsoft.com/office/powerpoint/2010/main" val="1827294273"/>
      </p:ext>
    </p:extLst>
  </p:cSld>
</p:sld>
</file>

<file path=ppt/slides/slide1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A8AB38-5DF8-4A9A-9A3A-7A1918558072}"/>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Sources and evidence</a:t>
            </a:r>
          </a:p>
        </p:txBody>
      </p:sp>
      <p:sp>
        <p:nvSpPr>
          <p:cNvPr id="2" name="">
            <a:extLst xmlns:a="http://schemas.openxmlformats.org/drawingml/2006/main">
              <a:ext uri="{FF2B5EF4-FFF2-40B4-BE49-F238E27FC236}">
                <a16:creationId xmlns:a16="http://schemas.microsoft.com/office/drawing/2014/main" id="{A0850E34-7C12-48B5-91B8-12C709DA8E3F}"/>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13</a:t>
            </a:r>
          </a:p>
        </p:txBody>
      </p:sp>
      <p:sp>
        <p:nvSpPr>
          <p:cNvPr id="3" name="">
            <a:extLst xmlns:a="http://schemas.openxmlformats.org/drawingml/2006/main">
              <a:ext uri="{FF2B5EF4-FFF2-40B4-BE49-F238E27FC236}">
                <a16:creationId xmlns:a16="http://schemas.microsoft.com/office/drawing/2014/main" id="{EA629847-D5ED-497D-BA84-DC24317D0BEC}"/>
              </a:ext>
            </a:extLst>
          </p:cNvPr>
          <p:cNvSpPr>
            <a:spLocks xmlns:a="http://schemas.openxmlformats.org/drawingml/2006/main" noGrp="1"/>
          </p:cNvSpPr>
          <p:nvPr/>
        </p:nvSpPr>
        <p:spPr>
          <a:xfrm xmlns:a="http://schemas.openxmlformats.org/drawingml/2006/main">
            <a:off x="609600" y="16573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Event and solution</a:t>
            </a:r>
          </a:p>
        </p:txBody>
      </p:sp>
      <p:sp>
        <p:nvSpPr>
          <p:cNvPr id="4" name="">
            <a:extLst xmlns:a="http://schemas.openxmlformats.org/drawingml/2006/main">
              <a:ext uri="{FF2B5EF4-FFF2-40B4-BE49-F238E27FC236}">
                <a16:creationId xmlns:a16="http://schemas.microsoft.com/office/drawing/2014/main" id="{72EF60BE-FF8D-4BEB-8028-6669023752F7}"/>
              </a:ext>
            </a:extLst>
          </p:cNvPr>
          <p:cNvSpPr>
            <a:spLocks xmlns:a="http://schemas.openxmlformats.org/drawingml/2006/main" noGrp="1"/>
          </p:cNvSpPr>
          <p:nvPr/>
        </p:nvSpPr>
        <p:spPr>
          <a:xfrm xmlns:a="http://schemas.openxmlformats.org/drawingml/2006/main">
            <a:off x="609600" y="21907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SPEC.pdf, pages 1–5</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DESIGN.md, sections 2 and 4–9</a:t>
            </a:r>
          </a:p>
        </p:txBody>
      </p:sp>
      <p:sp>
        <p:nvSpPr>
          <p:cNvPr id="5" name="">
            <a:extLst xmlns:a="http://schemas.openxmlformats.org/drawingml/2006/main">
              <a:ext uri="{FF2B5EF4-FFF2-40B4-BE49-F238E27FC236}">
                <a16:creationId xmlns:a16="http://schemas.microsoft.com/office/drawing/2014/main" id="{F27C0B95-48F1-4B43-A7DA-8022FEA47BF1}"/>
              </a:ext>
            </a:extLst>
          </p:cNvPr>
          <p:cNvSpPr>
            <a:spLocks xmlns:a="http://schemas.openxmlformats.org/drawingml/2006/main" noGrp="1"/>
          </p:cNvSpPr>
          <p:nvPr/>
        </p:nvSpPr>
        <p:spPr>
          <a:xfrm xmlns:a="http://schemas.openxmlformats.org/drawingml/2006/main">
            <a:off x="609600" y="3238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Market products</a:t>
            </a:r>
          </a:p>
        </p:txBody>
      </p:sp>
      <p:sp>
        <p:nvSpPr>
          <p:cNvPr id="6" name="">
            <a:extLst xmlns:a="http://schemas.openxmlformats.org/drawingml/2006/main">
              <a:ext uri="{FF2B5EF4-FFF2-40B4-BE49-F238E27FC236}">
                <a16:creationId xmlns:a16="http://schemas.microsoft.com/office/drawing/2014/main" id="{0042CAE2-190A-4EF5-BF87-D4F566BC1801}"/>
              </a:ext>
            </a:extLst>
          </p:cNvPr>
          <p:cNvSpPr>
            <a:spLocks xmlns:a="http://schemas.openxmlformats.org/drawingml/2006/main" noGrp="1"/>
          </p:cNvSpPr>
          <p:nvPr/>
        </p:nvSpPr>
        <p:spPr>
          <a:xfrm xmlns:a="http://schemas.openxmlformats.org/drawingml/2006/main">
            <a:off x="609600" y="37719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Simplify Copilot and AI Talent Agent</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Teal product overview</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Jobright AI Job Matcher</a:t>
            </a:r>
          </a:p>
        </p:txBody>
      </p:sp>
      <p:sp>
        <p:nvSpPr>
          <p:cNvPr id="7" name="">
            <a:extLst xmlns:a="http://schemas.openxmlformats.org/drawingml/2006/main">
              <a:ext uri="{FF2B5EF4-FFF2-40B4-BE49-F238E27FC236}">
                <a16:creationId xmlns:a16="http://schemas.microsoft.com/office/drawing/2014/main" id="{452916CB-2D28-4F08-8D21-BFAF4412C573}"/>
              </a:ext>
            </a:extLst>
          </p:cNvPr>
          <p:cNvSpPr>
            <a:spLocks xmlns:a="http://schemas.openxmlformats.org/drawingml/2006/main" noGrp="1"/>
          </p:cNvSpPr>
          <p:nvPr/>
        </p:nvSpPr>
        <p:spPr>
          <a:xfrm xmlns:a="http://schemas.openxmlformats.org/drawingml/2006/main">
            <a:off x="609600" y="5219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Local evidence</a:t>
            </a:r>
          </a:p>
        </p:txBody>
      </p:sp>
      <p:sp>
        <p:nvSpPr>
          <p:cNvPr id="8" name="">
            <a:extLst xmlns:a="http://schemas.openxmlformats.org/drawingml/2006/main">
              <a:ext uri="{FF2B5EF4-FFF2-40B4-BE49-F238E27FC236}">
                <a16:creationId xmlns:a16="http://schemas.microsoft.com/office/drawing/2014/main" id="{BF65130F-6258-4F3D-BF8A-9CCF3883E97C}"/>
              </a:ext>
            </a:extLst>
          </p:cNvPr>
          <p:cNvSpPr>
            <a:spLocks xmlns:a="http://schemas.openxmlformats.org/drawingml/2006/main" noGrp="1"/>
          </p:cNvSpPr>
          <p:nvPr/>
        </p:nvSpPr>
        <p:spPr>
          <a:xfrm xmlns:a="http://schemas.openxmlformats.org/drawingml/2006/main">
            <a:off x="609600" y="57531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Hotdata readback receipts, normalized corpus and 85 offline tests</a:t>
            </a:r>
          </a:p>
        </p:txBody>
      </p:sp>
    </p:spTree>
    <p:extLst>
      <p:ext uri="{BB962C8B-B14F-4D97-AF65-F5344CB8AC3E}">
        <p14:creationId xmlns:p14="http://schemas.microsoft.com/office/powerpoint/2010/main" val="591145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2026-09-11T21:10:06.4950000Z</dcterms:created>
  <dcterms:modified xsi:type="dcterms:W3CDTF">2026-09-11T21:10:06.4950000Z</dcterms:modified>
</coreProperties>
</file>