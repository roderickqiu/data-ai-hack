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a1ef646ff6d4cc9" /><Relationship Type="http://schemas.openxmlformats.org/officeDocument/2006/relationships/extended-properties" Target="/docProps/app.xml" Id="R03d02aa3051d45f1" /><Relationship Type="http://schemas.openxmlformats.org/officeDocument/2006/relationships/officeDocument" Target="/ppt/presentation.xml" Id="R7882afe269bf41d3" /></Relationships>
</file>

<file path=ppt/presentation.xml><?xml version="1.0" encoding="utf-8"?>
<p:presentation xmlns:p="http://schemas.openxmlformats.org/presentationml/2006/main">
  <p:sldMasterIdLst>
    <p:sldMasterId xmlns:r="http://schemas.openxmlformats.org/officeDocument/2006/relationships" id="2147483648" r:id="R964132d64f094a89"/>
  </p:sldMasterIdLst>
  <p:notesMasterIdLst>
    <p:notesMasterId xmlns:r="http://schemas.openxmlformats.org/officeDocument/2006/relationships" r:id="Rcf8bef69f26744bd"/>
  </p:notesMasterIdLst>
  <p:sldIdLst>
    <p:sldId xmlns:r="http://schemas.openxmlformats.org/officeDocument/2006/relationships" id="256" r:id="Ra12844e2c79a4585"/>
    <p:sldId xmlns:r="http://schemas.openxmlformats.org/officeDocument/2006/relationships" id="257" r:id="Rcb67825a55a24f9e"/>
    <p:sldId xmlns:r="http://schemas.openxmlformats.org/officeDocument/2006/relationships" id="258" r:id="Raaa41743e1714bfd"/>
    <p:sldId xmlns:r="http://schemas.openxmlformats.org/officeDocument/2006/relationships" id="259" r:id="R11c7c9e8ed614048"/>
    <p:sldId xmlns:r="http://schemas.openxmlformats.org/officeDocument/2006/relationships" id="260" r:id="R6f8d28ea49494e57"/>
    <p:sldId xmlns:r="http://schemas.openxmlformats.org/officeDocument/2006/relationships" id="261" r:id="Rc42a0e6462614091"/>
    <p:sldId xmlns:r="http://schemas.openxmlformats.org/officeDocument/2006/relationships" id="262" r:id="R5c23a248b94844a3"/>
    <p:sldId xmlns:r="http://schemas.openxmlformats.org/officeDocument/2006/relationships" id="263" r:id="R856fd57549c847e1"/>
    <p:sldId xmlns:r="http://schemas.openxmlformats.org/officeDocument/2006/relationships" id="264" r:id="R1046b6e364a548c3"/>
    <p:sldId xmlns:r="http://schemas.openxmlformats.org/officeDocument/2006/relationships" id="265" r:id="Rf43ee715ea184f00"/>
    <p:sldId xmlns:r="http://schemas.openxmlformats.org/officeDocument/2006/relationships" id="266" r:id="R1997ef5883c04e31"/>
    <p:sldId xmlns:r="http://schemas.openxmlformats.org/officeDocument/2006/relationships" id="267" r:id="R695fe0ec66b741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deafda47e04599" /><Relationship Type="http://schemas.openxmlformats.org/officeDocument/2006/relationships/slideMaster" Target="/ppt/slideMasters/slideMaster1.xml" Id="R964132d64f094a89" /><Relationship Type="http://schemas.openxmlformats.org/officeDocument/2006/relationships/notesMaster" Target="/ppt/notesMasters/notesMaster1.xml" Id="Rcf8bef69f26744bd" /><Relationship Type="http://schemas.openxmlformats.org/officeDocument/2006/relationships/presProps" Target="/ppt/presProps.xml" Id="Rb8eac0e1b024431e" /><Relationship Type="http://schemas.openxmlformats.org/officeDocument/2006/relationships/tableStyles" Target="/ppt/tableStyles.xml" Id="R4073bc9f6b5c4ffa" /><Relationship Type="http://schemas.openxmlformats.org/officeDocument/2006/relationships/slide" Target="/ppt/slides/slide1.xml" Id="Ra12844e2c79a4585" /><Relationship Type="http://schemas.openxmlformats.org/officeDocument/2006/relationships/slide" Target="/ppt/slides/slide2.xml" Id="Rcb67825a55a24f9e" /><Relationship Type="http://schemas.openxmlformats.org/officeDocument/2006/relationships/slide" Target="/ppt/slides/slide3.xml" Id="Raaa41743e1714bfd" /><Relationship Type="http://schemas.openxmlformats.org/officeDocument/2006/relationships/slide" Target="/ppt/slides/slide4.xml" Id="R11c7c9e8ed614048" /><Relationship Type="http://schemas.openxmlformats.org/officeDocument/2006/relationships/slide" Target="/ppt/slides/slide5.xml" Id="R6f8d28ea49494e57" /><Relationship Type="http://schemas.openxmlformats.org/officeDocument/2006/relationships/slide" Target="/ppt/slides/slide6.xml" Id="Rc42a0e6462614091" /><Relationship Type="http://schemas.openxmlformats.org/officeDocument/2006/relationships/slide" Target="/ppt/slides/slide7.xml" Id="R5c23a248b94844a3" /><Relationship Type="http://schemas.openxmlformats.org/officeDocument/2006/relationships/slide" Target="/ppt/slides/slide8.xml" Id="R856fd57549c847e1" /><Relationship Type="http://schemas.openxmlformats.org/officeDocument/2006/relationships/slide" Target="/ppt/slides/slide9.xml" Id="R1046b6e364a548c3" /><Relationship Type="http://schemas.openxmlformats.org/officeDocument/2006/relationships/slide" Target="/ppt/slides/slide10.xml" Id="Rf43ee715ea184f00" /><Relationship Type="http://schemas.openxmlformats.org/officeDocument/2006/relationships/slide" Target="/ppt/slides/slide11.xml" Id="R1997ef5883c04e31" /><Relationship Type="http://schemas.openxmlformats.org/officeDocument/2006/relationships/slide" Target="/ppt/slides/slide12.xml" Id="R695fe0ec66b741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cc75c4cc2940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0075291e8542f0" /><Relationship Type="http://schemas.openxmlformats.org/officeDocument/2006/relationships/notesMaster" Target="/ppt/notesMasters/notesMaster1.xml" Id="R77d9aacf725f4c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a1421517df4d09" /><Relationship Type="http://schemas.openxmlformats.org/officeDocument/2006/relationships/notesMaster" Target="/ppt/notesMasters/notesMaster1.xml" Id="Re660ddd4d99f43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5c30830cf94970" /><Relationship Type="http://schemas.openxmlformats.org/officeDocument/2006/relationships/notesMaster" Target="/ppt/notesMasters/notesMaster1.xml" Id="Rb32367b519e648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42cb4f8af343cd" /><Relationship Type="http://schemas.openxmlformats.org/officeDocument/2006/relationships/notesMaster" Target="/ppt/notesMasters/notesMaster1.xml" Id="Rc031d8364fe944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b8126778594829" /><Relationship Type="http://schemas.openxmlformats.org/officeDocument/2006/relationships/notesMaster" Target="/ppt/notesMasters/notesMaster1.xml" Id="R3fc75d410df84a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23fab786224552" /><Relationship Type="http://schemas.openxmlformats.org/officeDocument/2006/relationships/notesMaster" Target="/ppt/notesMasters/notesMaster1.xml" Id="R3b6ed90cdff449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79ed67174d4582" /><Relationship Type="http://schemas.openxmlformats.org/officeDocument/2006/relationships/notesMaster" Target="/ppt/notesMasters/notesMaster1.xml" Id="R039c68a5fcea40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a1bab8799d4821" /><Relationship Type="http://schemas.openxmlformats.org/officeDocument/2006/relationships/notesMaster" Target="/ppt/notesMasters/notesMaster1.xml" Id="R5c22131ea49948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70d57693ad4ebe" /><Relationship Type="http://schemas.openxmlformats.org/officeDocument/2006/relationships/notesMaster" Target="/ppt/notesMasters/notesMaster1.xml" Id="R4dde5d4fd47341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01fbee8c4f4c2c" /><Relationship Type="http://schemas.openxmlformats.org/officeDocument/2006/relationships/notesMaster" Target="/ppt/notesMasters/notesMaster1.xml" Id="Rd1eef861f69d4b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7114f4c3a14aee" /><Relationship Type="http://schemas.openxmlformats.org/officeDocument/2006/relationships/notesMaster" Target="/ppt/notesMasters/notesMaster1.xml" Id="Rf8a747a820424f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d819cb721f4668" /><Relationship Type="http://schemas.openxmlformats.org/officeDocument/2006/relationships/notesMaster" Target="/ppt/notesMasters/notesMaster1.xml" Id="R0c84b76f646b49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Second Nature is a job-search agent that learns from your decisions. Each run should reuse more of what already worked, while you keep control of your facts and final applications. We are focusing this three-hour MVP on one complete, measurable learning loop.</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Working product name: Second Nature. Cover artwork is an abstract generated illustration,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Think about an active engineer searching across dozens of roles. The search is not finished when a job is found. They still decide whether it fits, explain why they skipped it, and restate the same facts in another application. Our hypothesis is that the highest-value memory is the history of those decisions.</a:t>
            </a:r>
          </a:p>
          <a:p xmlns:a="http://schemas.openxmlformats.org/drawingml/2006/main">
            <a:r>
              <a:t/>
            </a:r>
          </a:p>
          <a:p xmlns:a="http://schemas.openxmlformats.org/drawingml/2006/main">
            <a:r>
              <a:t>User scenario, not a survey finding. Source: DESIGN.md, sections 2, 4–9. Design targets are not live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This is already a competitive category. Simplify fills applications and reuses answers. Teal supports tailored resumes and tracking. Jobright matches jobs using your profile and preferences. Our bet is an auditable loop: show what was learned, which workflow was replayed, and whether fewer questions came with better decisions. That is a positioning hypothesis, not a claim that competitors cannot learn.</a:t>
            </a:r>
          </a:p>
          <a:p xmlns:a="http://schemas.openxmlformats.org/drawingml/2006/main">
            <a:r>
              <a:t/>
            </a:r>
          </a:p>
          <a:p xmlns:a="http://schemas.openxmlformats.org/drawingml/2006/main">
            <a:r>
              <a:t>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Start with a resume and verified claims. The agent ranks real roles and explains the match. You keep or skip, with a reason. Repeated reasons become a proposed preference, which you confirm before it affects ranking. The next application pack reuses known answers and cites verified claims. Final submission always stays with the person.</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Code: agent/pipeline.py, agent/rank.py, agent/feedback.py, memory/prefs.py, memory/answers.py, memory/claims.py. The sentence on this slide is an illustrative explanation, not an actual user's private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We fetch real job openings directly from online hiring boards: Greenhouse, Ashby and Lever. Our latest collection includes 2,321 technical roles from 19 companies, with job descriptions and direct application links. We normalize the listings in Hotdata so the agent can rank opportunities and prepare applications using real online jobs.</a:t>
            </a:r>
          </a:p>
          <a:p xmlns:a="http://schemas.openxmlformats.org/drawingml/2006/main">
            <a:r>
              <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Chart aggregation: Software 902; AI/ML 347; Data 178; Infrastructure 197; Product and design 146+96=242; Other technical 166+155+78+54+2=455.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Cognee structures what the candidate says. HydraDB persists the candidate graph and decision history. Hotdata holds the posting corpus and run analytics. RocketRide sequences the work through our MCP tools. Rote records successful tool paths so repeat work can replay. Snyk is the security gate. These are contracts we can demonstrate with traces; an import alone does not satisfy the spec.</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Source: DESIGN.md, sections 2, 4–9. Design targets are not live benchmark results.</a:t>
            </a:r>
          </a:p>
          <a:p xmlns:a="http://schemas.openxmlformats.org/drawingml/2006/main">
            <a:r>
              <a:t>Implementation detail: the HydraDB cloud adapter persists graph memory items, with named graph evaluation in-process. The optional Bolt backend executes real Cypher. Do not claim cloud Cypher was verified. Live sponsor trace verification remains a separate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scoring step is deterministic: forty-five percent verified requirement coverage, thirty percent retrieval relevance, and twenty-five percent preference fit, with bounded contextual adjustments. The model is not retrained. Its inputs improve as memory grows. Rote selects exact, partial or novel paths. The apply-pack uses a bounded model call and a validator that rejects unsupported claims.</a:t>
            </a:r>
          </a:p>
          <a:p xmlns:a="http://schemas.openxmlformats.org/drawingml/2006/main">
            <a:r>
              <a:t/>
            </a:r>
          </a:p>
          <a:p xmlns:a="http://schemas.openxmlformats.org/drawingml/2006/main">
            <a:r>
              <a:t>Code: agent/predict.py, agent/config.py, agent/pack.py, memory/claims.py, mcp_server/rote.py. Similarity is derived from retrieval rank, not a guaranteed cosine score. Weights are configured starting values, not learned or empirically optimal weights. Evidence: python3 -m unittest discover -s tests -v ran on 2026-09-11: 85 tests, all passed. These tests use local graph, fake insight and stubbed model/tool paths. They validate logic and contracts, not live sponsor integrations or production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Today, the evidence is a verified corpus and eighty-five passing offline tests. Those tests cover preference confirmation, reuse, missing-claim handling and metric contracts. They are not live integration benchmarks. The next proof is repeated sponsor-backed runs with real human feedback: log cost, questions and skip recall together. We will show only observed points, and label any tool-byte cost proxy explicitly.</a:t>
            </a:r>
          </a:p>
          <a:p xmlns:a="http://schemas.openxmlformats.org/drawingml/2006/main">
            <a:r>
              <a:t/>
            </a:r>
          </a:p>
          <a:p xmlns:a="http://schemas.openxmlformats.org/drawingml/2006/main">
            <a:r>
              <a:t>Evidence: python3 -m unittest discover -s tests -v ran on 2026-09-11: 85 tests, all passed. These tests use local graph, fake insight and stubbed model/tool paths. They validate logic and contracts, not live sponsor integrations or production outcomes.</a:t>
            </a:r>
          </a:p>
          <a:p xmlns:a="http://schemas.openxmlformats.org/drawingml/2006/main">
            <a:r>
              <a:t>Source: data/job_snapshots/20260911_initial/summary.json, hotdata_result.json and final_verification.json. Live collection and Hotdata readback on 2026-09-11. 5,187 fetched, 2,321 unique selected jobs, 19 companies, 3 ATS families. US/Canada and remote, with geographic restrictions retained. This is a convenience sample, not market size.</a:t>
            </a:r>
          </a:p>
          <a:p xmlns:a="http://schemas.openxmlformats.org/drawingml/2006/main">
            <a:r>
              <a:t>Code: agent/metrics.py. The field named prediction_accuracy computes recall on human-skipped items: correctly predicted skips divided by actual human skips. It is not overall accuracy. No live compounding history was present in the inspected local data directory. Design targets such as 40% to 90% or six questions to zero are not measured results and are deliberately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The official event is eight hours. Our three-hour scope reuses the corpus and implemented modules. The first thirty minutes establish a baseline. The next hour connects the five sponsor paths. Then we repeat the workflow with real human feedback. The final thirty-five minutes are for security, trace capture and rehearsal. If a feature does not support the learning loop, we cut it.</a:t>
            </a:r>
          </a:p>
          <a:p xmlns:a="http://schemas.openxmlformats.org/drawingml/2006/main">
            <a:r>
              <a:t/>
            </a:r>
          </a:p>
          <a:p xmlns:a="http://schemas.openxmlformats.org/drawingml/2006/main">
            <a:r>
              <a:t>Source: SPEC.pdf, pages 1–5. Official event format is an 8-hour sprint. This deck proposes a 3-hour MVP scope within that event, not a change to the official rules.</a:t>
            </a:r>
          </a:p>
          <a:p xmlns:a="http://schemas.openxmlformats.org/drawingml/2006/main">
            <a:r>
              <a:t>Proposed scope, not a claim that all integration work has completed in three hours. Six to ten feedback rounds is a stretch target only if measured latency permits. Preserve all five load-bearing technologies rather than expanding UI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Our initial customer is an active technical job seeker with repeated decisions to make. We would recruit ten design partners through developer communities and career coaches. A paid subscription during an active search is a hypothesis to test. The product succeeds if it saves preparation time while producing shortlists people keep, without inventing their experience. The next step is that pilot and an honest replay demonstration.</a:t>
            </a:r>
          </a:p>
          <a:p xmlns:a="http://schemas.openxmlformats.org/drawingml/2006/main">
            <a:r>
              <a:t/>
            </a:r>
          </a:p>
          <a:p xmlns:a="http://schemas.openxmlformats.org/drawingml/2006/main">
            <a:r>
              <a:t>Product and go-to-market hypotheses, not existing revenue, customers or validated willingness to pay. No TAM estimate is claimed. Market context: Sources accessed 2026-09-11: https://help.simplify.jobs/articles/2415391-using-copilot-to-autofill-applications ; https://simplify.jobs/ai-talent-agent ; https://www.tealhq.com/how-it-works ; https://jobright.ai/ai-job-match . These are vendor-described capabilities, not hands-on product benchmarks. Simplify explicitly documents reusing prior answers and advertises broader agentic workflows. We do not claim competitors have no memory or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demo runbook, approximately 75–90 seconds if services are warm. Rehearse on an approved candidate dataset. Show a real baseline trace first. The three consistent skip reasons may be collected during preparation, but must come from an actual human. Do not fabricate historical responses or back-fill chart points. If a live trace is unavailable, label the recording and timestamp.</a:t>
            </a:r>
          </a:p>
          <a:p xmlns:a="http://schemas.openxmlformats.org/drawingml/2006/main">
            <a:r>
              <a:t/>
            </a:r>
          </a:p>
          <a:p xmlns:a="http://schemas.openxmlformats.org/drawingml/2006/main">
            <a:r>
              <a:t>Source: DESIGN.md, sections 2, 4–9. Design targets are not live benchmark results.</a:t>
            </a:r>
          </a:p>
          <a:p xmlns:a="http://schemas.openxmlformats.org/drawingml/2006/main">
            <a:r>
              <a:t>No live Slack message or application submission was sent while preparing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snapshot removes dependency on live job-board fetching during the demo. It does not make the entire system offline: hosted Cognee, Hotdata and RocketRide still require network access. Keep a timestamped recording as a fallback. The source design's blanket offline claim must be narrowed accordingly.</a:t>
            </a:r>
          </a:p>
          <a:p xmlns:a="http://schemas.openxmlformats.org/drawingml/2006/main">
            <a:r>
              <a:t/>
            </a:r>
          </a:p>
          <a:p xmlns:a="http://schemas.openxmlformats.org/drawingml/2006/main">
            <a:r>
              <a:t>HydraDB: current code supports cloud persistence with local graph evaluation, or actual Cypher through the optional Bolt backend. Demonstrate whichever is deployed and name it. Rote: prove recorded execution and replay with actual CLI traces, not only local play-index tests. Snyk: no clean scan is claimed until the report exists.</a:t>
            </a:r>
          </a:p>
          <a:p xmlns:a="http://schemas.openxmlformats.org/drawingml/2006/main">
            <a:r>
              <a:t/>
            </a:r>
          </a:p>
          <a:p xmlns:a="http://schemas.openxmlformats.org/drawingml/2006/main">
            <a:r>
              <a:t>Sources: SPEC.pdf pp. 2–4; memory/graph.py; mcp_server/rote.py; agent/metrics.py; Makefile.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f5082853954d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03cc0acc3d482f" /><Relationship Type="http://schemas.openxmlformats.org/officeDocument/2006/relationships/slideLayout" Target="/ppt/slideLayouts/slideLayout1.xml" Id="R88e3de08a88143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e3de08a88143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b5db2d28114b68" /><Relationship Type="http://schemas.openxmlformats.org/officeDocument/2006/relationships/image" Target="/ppt/media/image.png" Id="Rc2eccbc9319c48fa" /><Relationship Type="http://schemas.openxmlformats.org/officeDocument/2006/relationships/notesSlide" Target="/ppt/notesSlides/notesSlide1.xml" Id="R39fb9c4b70944d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a7e3ebeb744535" /><Relationship Type="http://schemas.openxmlformats.org/officeDocument/2006/relationships/notesSlide" Target="/ppt/notesSlides/notesSlide2.xml" Id="Raf4c657308714c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3bcdb53ab3443a" /><Relationship Type="http://schemas.openxmlformats.org/officeDocument/2006/relationships/notesSlide" Target="/ppt/notesSlides/notesSlide3.xml" Id="Refed43fa79b542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b66cad19ab4f07" /><Relationship Type="http://schemas.openxmlformats.org/officeDocument/2006/relationships/notesSlide" Target="/ppt/notesSlides/notesSlide4.xml" Id="R6d39a4dc97e744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0c9800b6b844c0" /><Relationship Type="http://schemas.openxmlformats.org/officeDocument/2006/relationships/chart" Target="/ppt/slides/charts/chart1.xml" Id="Raceb00d003864a1d" /><Relationship Type="http://schemas.openxmlformats.org/officeDocument/2006/relationships/notesSlide" Target="/ppt/notesSlides/notesSlide5.xml" Id="R2e3f4acc725c46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6cb59852f44d97" /><Relationship Type="http://schemas.openxmlformats.org/officeDocument/2006/relationships/notesSlide" Target="/ppt/notesSlides/notesSlide6.xml" Id="R8016512f808048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52fee87e0e49b1" /><Relationship Type="http://schemas.openxmlformats.org/officeDocument/2006/relationships/notesSlide" Target="/ppt/notesSlides/notesSlide7.xml" Id="R89671add95fe4a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9c8ff7872e48d7" /><Relationship Type="http://schemas.openxmlformats.org/officeDocument/2006/relationships/notesSlide" Target="/ppt/notesSlides/notesSlide8.xml" Id="R791f0967b8544a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bfa89f0b2704d80" /><Relationship Type="http://schemas.openxmlformats.org/officeDocument/2006/relationships/notesSlide" Target="/ppt/notesSlides/notesSlide9.xml" Id="Raa22348651e542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caf1fa47734f71" /><Relationship Type="http://schemas.openxmlformats.org/officeDocument/2006/relationships/notesSlide" Target="/ppt/notesSlides/notesSlide10.xml" Id="R64e4486635284f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edd0858db14ca1" /><Relationship Type="http://schemas.openxmlformats.org/officeDocument/2006/relationships/notesSlide" Target="/ppt/notesSlides/notesSlide11.xml" Id="R52652ab0d96447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4d10cd407b49c5" /><Relationship Type="http://schemas.openxmlformats.org/officeDocument/2006/relationships/notesSlide" Target="/ppt/notesSlides/notesSlide12.xml" Id="R546577a5d23c4c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roles</c:v>
          </c:tx>
          <c:spPr>
            <a:solidFill xmlns:a="http://schemas.openxmlformats.org/drawingml/2006/main">
              <a:srgbClr val="147C61"/>
            </a:solidFill>
          </c:spPr>
          <c:cat>
            <c:strRef>
              <c:f>'Chart Data'!$A$2:$A$7</c:f>
              <c:strCache>
                <c:ptCount val="6"/>
                <c:pt idx="0">
                  <c:v>Software</c:v>
                </c:pt>
                <c:pt idx="1">
                  <c:v>AI / ML</c:v>
                </c:pt>
                <c:pt idx="2">
                  <c:v>Data</c:v>
                </c:pt>
                <c:pt idx="3">
                  <c:v>Infrastructure</c:v>
                </c:pt>
                <c:pt idx="4">
                  <c:v>Product / design</c:v>
                </c:pt>
                <c:pt idx="5">
                  <c:v>Other technical</c:v>
                </c:pt>
              </c:strCache>
            </c:strRef>
          </c:cat>
          <c:val>
            <c:numRef>
              <c:f>'Chart Data'!$B$2:$B$7</c:f>
              <c:numCache>
                <c:formatCode>#,##0</c:formatCode>
                <c:ptCount val="6"/>
                <c:pt idx="0">
                  <c:v>902</c:v>
                </c:pt>
                <c:pt idx="1">
                  <c:v>347</c:v>
                </c:pt>
                <c:pt idx="2">
                  <c:v>178</c:v>
                </c:pt>
                <c:pt idx="3">
                  <c:v>197</c:v>
                </c:pt>
                <c:pt idx="4">
                  <c:v>242</c:v>
                </c:pt>
                <c:pt idx="5">
                  <c:v>455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45E"/>
                </a:solidFill>
                <a:latin typeface="Arial"/>
                <a:ea typeface="Arial"/>
                <a:cs typeface="Arial"/>
              </a:defRPr>
            </a:pPr>
          </a:p>
        </c:txPr>
        <c:crossAx val="48672768"/>
      </c:catAx>
      <c:valAx>
        <c:axId val="48672768"/>
        <c:scaling>
          <c:orientation val="minMax"/>
          <c:max val="10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2B27"/>
                </a:solidFill>
                <a:latin typeface="Arial"/>
                <a:ea typeface="Arial"/>
                <a:cs typeface="Arial"/>
              </a:defRPr>
            </a:pPr>
          </a:p>
        </c:txPr>
        <c:crossAx val="48650112"/>
        <c:crossBetween val="between"/>
        <c:majorUnit val="250"/>
      </c:valAx>
      <c:spPr>
        <a:solidFill xmlns:a="http://schemas.openxmlformats.org/drawingml/2006/main">
          <a:srgbClr val="F5F5EE"/>
        </a:solidFill>
      </c:spPr>
    </c:plotArea>
    <c:plotVisOnly val="1"/>
  </c:chart>
  <c:spPr>
    <a:solidFill xmlns:a="http://schemas.openxmlformats.org/drawingml/2006/main">
      <a:srgbClr val="F5F5E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510503-AD1B-4C7C-8D2F-CAF3EBE37C40}"/>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2eccbc9319c48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634764-C26F-45BE-B169-04547C3C1E47}"/>
              </a:ext>
            </a:extLst>
          </p:cNvPr>
          <p:cNvSpPr>
            <a:spLocks xmlns:a="http://schemas.openxmlformats.org/drawingml/2006/main" noGrp="1"/>
          </p:cNvSpPr>
          <p:nvPr/>
        </p:nvSpPr>
        <p:spPr>
          <a:xfrm xmlns:a="http://schemas.openxmlformats.org/drawingml/2006/main">
            <a:off x="609600" y="1581150"/>
            <a:ext cx="6143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Second</a:t>
            </a:r>
          </a:p>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Nature</a:t>
            </a:r>
          </a:p>
        </p:txBody>
      </p:sp>
      <p:sp>
        <p:nvSpPr>
          <p:cNvPr id="4" name="">
            <a:extLst xmlns:a="http://schemas.openxmlformats.org/drawingml/2006/main">
              <a:ext uri="{FF2B5EF4-FFF2-40B4-BE49-F238E27FC236}">
                <a16:creationId xmlns:a16="http://schemas.microsoft.com/office/drawing/2014/main" id="{EDC7480D-6234-4DD8-ACDF-1A72CC7C183E}"/>
              </a:ext>
            </a:extLst>
          </p:cNvPr>
          <p:cNvSpPr>
            <a:spLocks xmlns:a="http://schemas.openxmlformats.org/drawingml/2006/main" noGrp="1"/>
          </p:cNvSpPr>
          <p:nvPr/>
        </p:nvSpPr>
        <p:spPr>
          <a:xfrm xmlns:a="http://schemas.openxmlformats.org/drawingml/2006/main">
            <a:off x="647700" y="3876675"/>
            <a:ext cx="5810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A job-search agent that learns</a:t>
            </a:r>
          </a:p>
          <a:p xmlns:a="http://schemas.openxmlformats.org/drawingml/2006/main">
            <a:pPr>
              <a:defRPr sz="2550" b="0">
                <a:solidFill>
                  <a:srgbClr val="B7E4CD"/>
                </a:solidFill>
                <a:latin typeface="Arial"/>
                <a:ea typeface="Arial"/>
                <a:cs typeface="Arial"/>
              </a:defRPr>
            </a:pPr>
            <a:r>
              <a:rPr sz="2550" b="0">
                <a:solidFill>
                  <a:srgbClr val="B7E4CD"/>
                </a:solidFill>
                <a:latin typeface="Arial"/>
                <a:ea typeface="Arial"/>
                <a:cs typeface="Arial"/>
              </a:rPr>
              <a:t>from every decision</a:t>
            </a:r>
          </a:p>
        </p:txBody>
      </p:sp>
      <p:sp>
        <p:nvSpPr>
          <p:cNvPr id="5" name="">
            <a:extLst xmlns:a="http://schemas.openxmlformats.org/drawingml/2006/main">
              <a:ext uri="{FF2B5EF4-FFF2-40B4-BE49-F238E27FC236}">
                <a16:creationId xmlns:a16="http://schemas.microsoft.com/office/drawing/2014/main" id="{6675FA24-4BC9-437D-B550-BB3C92E3ED16}"/>
              </a:ext>
            </a:extLst>
          </p:cNvPr>
          <p:cNvSpPr>
            <a:spLocks xmlns:a="http://schemas.openxmlformats.org/drawingml/2006/main" noGrp="1"/>
          </p:cNvSpPr>
          <p:nvPr/>
        </p:nvSpPr>
        <p:spPr>
          <a:xfrm xmlns:a="http://schemas.openxmlformats.org/drawingml/2006/main">
            <a:off x="647700" y="5762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3-hour MVP</a:t>
            </a:r>
          </a:p>
        </p:txBody>
      </p:sp>
    </p:spTree>
    <p:extLst>
      <p:ext uri="{BB962C8B-B14F-4D97-AF65-F5344CB8AC3E}">
        <p14:creationId xmlns:p14="http://schemas.microsoft.com/office/powerpoint/2010/main" val="677946110"/>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2A990E-A7CD-467E-8CE4-04F31A1350F8}"/>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repeated work in a job search</a:t>
            </a:r>
          </a:p>
        </p:txBody>
      </p:sp>
      <p:sp>
        <p:nvSpPr>
          <p:cNvPr id="2" name="">
            <a:extLst xmlns:a="http://schemas.openxmlformats.org/drawingml/2006/main">
              <a:ext uri="{FF2B5EF4-FFF2-40B4-BE49-F238E27FC236}">
                <a16:creationId xmlns:a16="http://schemas.microsoft.com/office/drawing/2014/main" id="{078A14CF-1755-4738-9694-82D68CA21EEA}"/>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761E78C-42CD-40AF-AC8E-6012B1A0725A}"/>
              </a:ext>
            </a:extLst>
          </p:cNvPr>
          <p:cNvSpPr>
            <a:spLocks xmlns:a="http://schemas.openxmlformats.org/drawingml/2006/main" noGrp="1"/>
          </p:cNvSpPr>
          <p:nvPr/>
        </p:nvSpPr>
        <p:spPr>
          <a:xfrm xmlns:a="http://schemas.openxmlformats.org/drawingml/2006/main">
            <a:off x="609600" y="18859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“I already told you</a:t>
            </a:r>
          </a:p>
          <a:p xmlns:a="http://schemas.openxmlformats.org/drawingml/2006/main">
            <a:pPr>
              <a:defRPr sz="4350" b="1">
                <a:solidFill>
                  <a:srgbClr val="152B27"/>
                </a:solidFill>
                <a:latin typeface="Arial"/>
                <a:ea typeface="Arial"/>
                <a:cs typeface="Arial"/>
              </a:defRPr>
            </a:pPr>
            <a:r>
              <a:rPr sz="4350" b="1">
                <a:solidFill>
                  <a:srgbClr val="152B27"/>
                </a:solidFill>
                <a:latin typeface="Arial"/>
                <a:ea typeface="Arial"/>
                <a:cs typeface="Arial"/>
              </a:rPr>
              <a:t>why that role was wrong.”</a:t>
            </a:r>
          </a:p>
        </p:txBody>
      </p:sp>
      <p:sp>
        <p:nvSpPr>
          <p:cNvPr id="4" name="">
            <a:extLst xmlns:a="http://schemas.openxmlformats.org/drawingml/2006/main">
              <a:ext uri="{FF2B5EF4-FFF2-40B4-BE49-F238E27FC236}">
                <a16:creationId xmlns:a16="http://schemas.microsoft.com/office/drawing/2014/main" id="{2EA5BBE3-3DD8-4593-94A1-D5A9DC1F640A}"/>
              </a:ext>
            </a:extLst>
          </p:cNvPr>
          <p:cNvSpPr>
            <a:spLocks xmlns:a="http://schemas.openxmlformats.org/drawingml/2006/main" noGrp="1"/>
          </p:cNvSpPr>
          <p:nvPr/>
        </p:nvSpPr>
        <p:spPr>
          <a:xfrm xmlns:a="http://schemas.openxmlformats.org/drawingml/2006/main">
            <a:off x="647700" y="36576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job-seeker scenario</a:t>
            </a:r>
          </a:p>
        </p:txBody>
      </p:sp>
      <p:sp>
        <p:nvSpPr>
          <p:cNvPr id="5" name="">
            <a:extLst xmlns:a="http://schemas.openxmlformats.org/drawingml/2006/main">
              <a:ext uri="{FF2B5EF4-FFF2-40B4-BE49-F238E27FC236}">
                <a16:creationId xmlns:a16="http://schemas.microsoft.com/office/drawing/2014/main" id="{93C6EF58-4AE8-4E76-98C1-5310F7BCD3E2}"/>
              </a:ext>
            </a:extLst>
          </p:cNvPr>
          <p:cNvSpPr>
            <a:spLocks xmlns:a="http://schemas.openxmlformats.org/drawingml/2006/main" noGrp="1"/>
          </p:cNvSpPr>
          <p:nvPr/>
        </p:nvSpPr>
        <p:spPr>
          <a:xfrm xmlns:a="http://schemas.openxmlformats.org/drawingml/2006/main">
            <a:off x="64770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shortlist</a:t>
            </a:r>
          </a:p>
        </p:txBody>
      </p:sp>
      <p:sp>
        <p:nvSpPr>
          <p:cNvPr id="6" name="">
            <a:extLst xmlns:a="http://schemas.openxmlformats.org/drawingml/2006/main">
              <a:ext uri="{FF2B5EF4-FFF2-40B4-BE49-F238E27FC236}">
                <a16:creationId xmlns:a16="http://schemas.microsoft.com/office/drawing/2014/main" id="{09A00BCD-4915-43E0-83A9-A5852AC80B93}"/>
              </a:ext>
            </a:extLst>
          </p:cNvPr>
          <p:cNvSpPr>
            <a:spLocks xmlns:a="http://schemas.openxmlformats.org/drawingml/2006/main" noGrp="1"/>
          </p:cNvSpPr>
          <p:nvPr/>
        </p:nvSpPr>
        <p:spPr>
          <a:xfrm xmlns:a="http://schemas.openxmlformats.org/drawingml/2006/main">
            <a:off x="64770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Recheck seniority, location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and the actual work.</a:t>
            </a:r>
          </a:p>
        </p:txBody>
      </p:sp>
      <p:sp>
        <p:nvSpPr>
          <p:cNvPr id="7" name="">
            <a:extLst xmlns:a="http://schemas.openxmlformats.org/drawingml/2006/main">
              <a:ext uri="{FF2B5EF4-FFF2-40B4-BE49-F238E27FC236}">
                <a16:creationId xmlns:a16="http://schemas.microsoft.com/office/drawing/2014/main" id="{1D447EA2-3E21-4607-8C04-7EDDEB2EF5E3}"/>
              </a:ext>
            </a:extLst>
          </p:cNvPr>
          <p:cNvSpPr>
            <a:spLocks xmlns:a="http://schemas.openxmlformats.org/drawingml/2006/main" noGrp="1"/>
          </p:cNvSpPr>
          <p:nvPr/>
        </p:nvSpPr>
        <p:spPr>
          <a:xfrm xmlns:a="http://schemas.openxmlformats.org/drawingml/2006/main">
            <a:off x="4333875"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application</a:t>
            </a:r>
          </a:p>
        </p:txBody>
      </p:sp>
      <p:sp>
        <p:nvSpPr>
          <p:cNvPr id="8" name="">
            <a:extLst xmlns:a="http://schemas.openxmlformats.org/drawingml/2006/main">
              <a:ext uri="{FF2B5EF4-FFF2-40B4-BE49-F238E27FC236}">
                <a16:creationId xmlns:a16="http://schemas.microsoft.com/office/drawing/2014/main" id="{735AC3F2-7C63-44CE-A4D7-356EB6FA1C97}"/>
              </a:ext>
            </a:extLst>
          </p:cNvPr>
          <p:cNvSpPr>
            <a:spLocks xmlns:a="http://schemas.openxmlformats.org/drawingml/2006/main" noGrp="1"/>
          </p:cNvSpPr>
          <p:nvPr/>
        </p:nvSpPr>
        <p:spPr>
          <a:xfrm xmlns:a="http://schemas.openxmlformats.org/drawingml/2006/main">
            <a:off x="4333875"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Repeat facts already</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confirmed elsewhere.</a:t>
            </a:r>
          </a:p>
        </p:txBody>
      </p:sp>
      <p:sp>
        <p:nvSpPr>
          <p:cNvPr id="9" name="">
            <a:extLst xmlns:a="http://schemas.openxmlformats.org/drawingml/2006/main">
              <a:ext uri="{FF2B5EF4-FFF2-40B4-BE49-F238E27FC236}">
                <a16:creationId xmlns:a16="http://schemas.microsoft.com/office/drawing/2014/main" id="{EBFE8FE9-4362-4996-AE44-3622DD851A37}"/>
              </a:ext>
            </a:extLst>
          </p:cNvPr>
          <p:cNvSpPr>
            <a:spLocks xmlns:a="http://schemas.openxmlformats.org/drawingml/2006/main" noGrp="1"/>
          </p:cNvSpPr>
          <p:nvPr/>
        </p:nvSpPr>
        <p:spPr>
          <a:xfrm xmlns:a="http://schemas.openxmlformats.org/drawingml/2006/main">
            <a:off x="8020050" y="4095750"/>
            <a:ext cx="319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C61"/>
                </a:solidFill>
                <a:latin typeface="Arial"/>
                <a:ea typeface="Arial"/>
                <a:cs typeface="Arial"/>
              </a:defRPr>
            </a:pPr>
            <a:r>
              <a:rPr sz="2100" b="1">
                <a:solidFill>
                  <a:srgbClr val="147C61"/>
                </a:solidFill>
                <a:latin typeface="Arial"/>
                <a:ea typeface="Arial"/>
                <a:cs typeface="Arial"/>
              </a:rPr>
              <a:t>Another correction</a:t>
            </a:r>
          </a:p>
        </p:txBody>
      </p:sp>
      <p:sp>
        <p:nvSpPr>
          <p:cNvPr id="10" name="">
            <a:extLst xmlns:a="http://schemas.openxmlformats.org/drawingml/2006/main">
              <a:ext uri="{FF2B5EF4-FFF2-40B4-BE49-F238E27FC236}">
                <a16:creationId xmlns:a16="http://schemas.microsoft.com/office/drawing/2014/main" id="{DA8D32AF-0926-449A-9364-AB89E038DFB1}"/>
              </a:ext>
            </a:extLst>
          </p:cNvPr>
          <p:cNvSpPr>
            <a:spLocks xmlns:a="http://schemas.openxmlformats.org/drawingml/2006/main" noGrp="1"/>
          </p:cNvSpPr>
          <p:nvPr/>
        </p:nvSpPr>
        <p:spPr>
          <a:xfrm xmlns:a="http://schemas.openxmlformats.org/drawingml/2006/main">
            <a:off x="8020050" y="4667250"/>
            <a:ext cx="319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same preference</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one more time.</a:t>
            </a:r>
          </a:p>
        </p:txBody>
      </p:sp>
    </p:spTree>
    <p:extLst>
      <p:ext uri="{BB962C8B-B14F-4D97-AF65-F5344CB8AC3E}">
        <p14:creationId xmlns:p14="http://schemas.microsoft.com/office/powerpoint/2010/main" val="1257410000"/>
      </p:ext>
    </p:extLst>
  </p:cSld>
</p:sld>
</file>

<file path=ppt/slides/slide3.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17A0A6-9599-4CAD-B5DE-726F277684CC}"/>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crowded market, a specific product bet</a:t>
            </a:r>
          </a:p>
        </p:txBody>
      </p:sp>
      <p:sp>
        <p:nvSpPr>
          <p:cNvPr id="2" name="">
            <a:extLst xmlns:a="http://schemas.openxmlformats.org/drawingml/2006/main">
              <a:ext uri="{FF2B5EF4-FFF2-40B4-BE49-F238E27FC236}">
                <a16:creationId xmlns:a16="http://schemas.microsoft.com/office/drawing/2014/main" id="{2AD103BD-C346-49C3-AF80-606F67C129FF}"/>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03</a:t>
            </a:r>
          </a:p>
        </p:txBody>
      </p:sp>
      <p:graphicFrame>
        <p:nvGraphicFramePr>
          <p:cNvPr id="8" name=""/>
          <p:cNvGraphicFramePr/>
          <p:nvPr/>
        </p:nvGraphicFramePr>
        <p:xfrm>
          <a:off xmlns:a="http://schemas.openxmlformats.org/drawingml/2006/main" x="609600" y="1657350"/>
          <a:ext xmlns:a="http://schemas.openxmlformats.org/drawingml/2006/main" cx="10953750" cy="2971800"/>
        </p:xfrm>
        <a:graphic xmlns:a="http://schemas.openxmlformats.org/drawingml/2006/main">
          <a:graphicData uri="http://schemas.openxmlformats.org/drawingml/2006/table">
            <a:tbl>
              <a:tblPr/>
              <a:tblGrid>
                <a:gridCol w="2381250"/>
                <a:gridCol w="8572500"/>
              </a:tblGrid>
              <a:tr h="742950">
                <a:tc>
                  <a:txBody>
                    <a:bodyPr/>
                    <a:lstStyle/>
                    <a:p>
                      <a:r>
                        <a:rPr sz="2100" b="1">
                          <a:solidFill>
                            <a:srgbClr val="FFFFFF"/>
                          </a:solidFill>
                          <a:latin typeface="Arial"/>
                          <a:ea typeface="Arial"/>
                          <a:cs typeface="Arial"/>
                        </a:rPr>
                        <a:t>Product</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Publicly described strength</a:t>
                      </a:r>
                    </a:p>
                  </a:txBody>
                  <a:tcPr marL="152400" marR="152400" marT="114300" marB="114300" anchor="ctr">
                    <a:solidFill>
                      <a:srgbClr val="147C61"/>
                    </a:solidFill>
                  </a:tcPr>
                </a:tc>
              </a:tr>
              <a:tr h="742950">
                <a:tc>
                  <a:txBody>
                    <a:bodyPr/>
                    <a:lstStyle/>
                    <a:p>
                      <a:r>
                        <a:rPr sz="2100" b="1">
                          <a:solidFill>
                            <a:srgbClr val="152B27"/>
                          </a:solidFill>
                          <a:latin typeface="Arial"/>
                          <a:ea typeface="Arial"/>
                          <a:cs typeface="Arial"/>
                        </a:rPr>
                        <a:t>Simplify</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Application autofill and answer reuse</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Teal</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Tailored resumes and job tracking</a:t>
                      </a:r>
                    </a:p>
                  </a:txBody>
                  <a:tcPr marL="152400" marR="152400" marT="114300" marB="114300" anchor="ctr">
                    <a:solidFill>
                      <a:srgbClr val="F5F5EE"/>
                    </a:solidFill>
                  </a:tcPr>
                </a:tc>
              </a:tr>
              <a:tr h="742950">
                <a:tc>
                  <a:txBody>
                    <a:bodyPr/>
                    <a:lstStyle/>
                    <a:p>
                      <a:r>
                        <a:rPr sz="2100" b="1">
                          <a:solidFill>
                            <a:srgbClr val="152B27"/>
                          </a:solidFill>
                          <a:latin typeface="Arial"/>
                          <a:ea typeface="Arial"/>
                          <a:cs typeface="Arial"/>
                        </a:rPr>
                        <a:t>Jobright</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Profile-based matching and match scores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32536072-DD0F-4158-915C-0DE167F560FC}"/>
              </a:ext>
            </a:extLst>
          </p:cNvPr>
          <p:cNvSpPr>
            <a:spLocks xmlns:a="http://schemas.openxmlformats.org/drawingml/2006/main" noGrp="1"/>
          </p:cNvSpPr>
          <p:nvPr/>
        </p:nvSpPr>
        <p:spPr>
          <a:xfrm xmlns:a="http://schemas.openxmlformats.org/drawingml/2006/main">
            <a:off x="609600" y="51054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C61"/>
                </a:solidFill>
                <a:latin typeface="Arial"/>
                <a:ea typeface="Arial"/>
                <a:cs typeface="Arial"/>
              </a:defRPr>
            </a:pPr>
            <a:r>
              <a:rPr sz="2550" b="1">
                <a:solidFill>
                  <a:srgbClr val="147C61"/>
                </a:solidFill>
                <a:latin typeface="Arial"/>
                <a:ea typeface="Arial"/>
                <a:cs typeface="Arial"/>
              </a:rPr>
              <a:t>Our bet: auditable learning across repeated runs</a:t>
            </a:r>
          </a:p>
        </p:txBody>
      </p:sp>
      <p:sp>
        <p:nvSpPr>
          <p:cNvPr id="5" name="">
            <a:extLst xmlns:a="http://schemas.openxmlformats.org/drawingml/2006/main">
              <a:ext uri="{FF2B5EF4-FFF2-40B4-BE49-F238E27FC236}">
                <a16:creationId xmlns:a16="http://schemas.microsoft.com/office/drawing/2014/main" id="{58589B23-FE1D-4390-ACC5-E5EAB73CAC12}"/>
              </a:ext>
            </a:extLst>
          </p:cNvPr>
          <p:cNvSpPr>
            <a:spLocks xmlns:a="http://schemas.openxmlformats.org/drawingml/2006/main" noGrp="1"/>
          </p:cNvSpPr>
          <p:nvPr/>
        </p:nvSpPr>
        <p:spPr>
          <a:xfrm xmlns:a="http://schemas.openxmlformats.org/drawingml/2006/main">
            <a:off x="609600" y="56959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27"/>
                </a:solidFill>
                <a:latin typeface="Arial"/>
                <a:ea typeface="Arial"/>
                <a:cs typeface="Arial"/>
              </a:defRPr>
            </a:pPr>
            <a:r>
              <a:rPr sz="1950" b="0">
                <a:solidFill>
                  <a:srgbClr val="152B27"/>
                </a:solidFill>
                <a:latin typeface="Arial"/>
                <a:ea typeface="Arial"/>
                <a:cs typeface="Arial"/>
              </a:rPr>
              <a:t>Visible memory, workflow replay and user-controlled autonomy</a:t>
            </a:r>
          </a:p>
        </p:txBody>
      </p:sp>
    </p:spTree>
    <p:extLst>
      <p:ext uri="{BB962C8B-B14F-4D97-AF65-F5344CB8AC3E}">
        <p14:creationId xmlns:p14="http://schemas.microsoft.com/office/powerpoint/2010/main" val="878315949"/>
      </p:ext>
    </p:extLst>
  </p:cSld>
</p:sld>
</file>

<file path=ppt/slides/slide4.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29E6241-CDBA-493E-B557-67A68148ABE1}"/>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product loop</a:t>
            </a:r>
          </a:p>
        </p:txBody>
      </p:sp>
      <p:sp>
        <p:nvSpPr>
          <p:cNvPr id="2" name="">
            <a:extLst xmlns:a="http://schemas.openxmlformats.org/drawingml/2006/main">
              <a:ext uri="{FF2B5EF4-FFF2-40B4-BE49-F238E27FC236}">
                <a16:creationId xmlns:a16="http://schemas.microsoft.com/office/drawing/2014/main" id="{6CA51BE1-E9B8-41B8-A5F7-0A73816BC90B}"/>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7ACA682-44F4-4F56-8743-4506A2FBC5CF}"/>
              </a:ext>
            </a:extLst>
          </p:cNvPr>
          <p:cNvSpPr>
            <a:spLocks xmlns:a="http://schemas.openxmlformats.org/drawingml/2006/main" noGrp="1"/>
          </p:cNvSpPr>
          <p:nvPr/>
        </p:nvSpPr>
        <p:spPr>
          <a:xfrm xmlns:a="http://schemas.openxmlformats.org/drawingml/2006/main">
            <a:off x="6096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156B2A2-14D5-4564-88CE-F4CF24344332}"/>
              </a:ext>
            </a:extLst>
          </p:cNvPr>
          <p:cNvSpPr>
            <a:spLocks xmlns:a="http://schemas.openxmlformats.org/drawingml/2006/main" noGrp="1"/>
          </p:cNvSpPr>
          <p:nvPr/>
        </p:nvSpPr>
        <p:spPr>
          <a:xfrm xmlns:a="http://schemas.openxmlformats.org/drawingml/2006/main">
            <a:off x="6096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Verify</a:t>
            </a:r>
          </a:p>
        </p:txBody>
      </p:sp>
      <p:sp>
        <p:nvSpPr>
          <p:cNvPr id="5" name="">
            <a:extLst xmlns:a="http://schemas.openxmlformats.org/drawingml/2006/main">
              <a:ext uri="{FF2B5EF4-FFF2-40B4-BE49-F238E27FC236}">
                <a16:creationId xmlns:a16="http://schemas.microsoft.com/office/drawing/2014/main" id="{83D55443-B394-453D-8620-7F446A23F720}"/>
              </a:ext>
            </a:extLst>
          </p:cNvPr>
          <p:cNvSpPr>
            <a:spLocks xmlns:a="http://schemas.openxmlformats.org/drawingml/2006/main" noGrp="1"/>
          </p:cNvSpPr>
          <p:nvPr/>
        </p:nvSpPr>
        <p:spPr>
          <a:xfrm xmlns:a="http://schemas.openxmlformats.org/drawingml/2006/main">
            <a:off x="6096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Resume facts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standard answers</a:t>
            </a:r>
          </a:p>
        </p:txBody>
      </p:sp>
      <p:sp>
        <p:nvSpPr>
          <p:cNvPr id="6" name="">
            <a:extLst xmlns:a="http://schemas.openxmlformats.org/drawingml/2006/main">
              <a:ext uri="{FF2B5EF4-FFF2-40B4-BE49-F238E27FC236}">
                <a16:creationId xmlns:a16="http://schemas.microsoft.com/office/drawing/2014/main" id="{F8AE6B75-10D7-4AE6-92C8-6DB7E53687F4}"/>
              </a:ext>
            </a:extLst>
          </p:cNvPr>
          <p:cNvSpPr>
            <a:spLocks xmlns:a="http://schemas.openxmlformats.org/drawingml/2006/main" noGrp="1"/>
          </p:cNvSpPr>
          <p:nvPr/>
        </p:nvSpPr>
        <p:spPr>
          <a:xfrm xmlns:a="http://schemas.openxmlformats.org/drawingml/2006/main">
            <a:off x="34099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9088DCB-01BE-4668-AA9B-8093C89369BD}"/>
              </a:ext>
            </a:extLst>
          </p:cNvPr>
          <p:cNvSpPr>
            <a:spLocks xmlns:a="http://schemas.openxmlformats.org/drawingml/2006/main" noGrp="1"/>
          </p:cNvSpPr>
          <p:nvPr/>
        </p:nvSpPr>
        <p:spPr>
          <a:xfrm xmlns:a="http://schemas.openxmlformats.org/drawingml/2006/main">
            <a:off x="34099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Judge</a:t>
            </a:r>
          </a:p>
        </p:txBody>
      </p:sp>
      <p:sp>
        <p:nvSpPr>
          <p:cNvPr id="8" name="">
            <a:extLst xmlns:a="http://schemas.openxmlformats.org/drawingml/2006/main">
              <a:ext uri="{FF2B5EF4-FFF2-40B4-BE49-F238E27FC236}">
                <a16:creationId xmlns:a16="http://schemas.microsoft.com/office/drawing/2014/main" id="{C995B3EE-870D-49B6-A87B-63A8C63074B2}"/>
              </a:ext>
            </a:extLst>
          </p:cNvPr>
          <p:cNvSpPr>
            <a:spLocks xmlns:a="http://schemas.openxmlformats.org/drawingml/2006/main" noGrp="1"/>
          </p:cNvSpPr>
          <p:nvPr/>
        </p:nvSpPr>
        <p:spPr>
          <a:xfrm xmlns:a="http://schemas.openxmlformats.org/drawingml/2006/main">
            <a:off x="34099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Rank roles and</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explain the match</a:t>
            </a:r>
          </a:p>
        </p:txBody>
      </p:sp>
      <p:sp>
        <p:nvSpPr>
          <p:cNvPr id="9" name="">
            <a:extLst xmlns:a="http://schemas.openxmlformats.org/drawingml/2006/main">
              <a:ext uri="{FF2B5EF4-FFF2-40B4-BE49-F238E27FC236}">
                <a16:creationId xmlns:a16="http://schemas.microsoft.com/office/drawing/2014/main" id="{660EFF72-1FF7-4BF1-884C-3B1F1F11BAF0}"/>
              </a:ext>
            </a:extLst>
          </p:cNvPr>
          <p:cNvSpPr>
            <a:spLocks xmlns:a="http://schemas.openxmlformats.org/drawingml/2006/main" noGrp="1"/>
          </p:cNvSpPr>
          <p:nvPr/>
        </p:nvSpPr>
        <p:spPr>
          <a:xfrm xmlns:a="http://schemas.openxmlformats.org/drawingml/2006/main">
            <a:off x="621030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A39EA27-29A0-4388-A504-BF6BDBB6D6C8}"/>
              </a:ext>
            </a:extLst>
          </p:cNvPr>
          <p:cNvSpPr>
            <a:spLocks xmlns:a="http://schemas.openxmlformats.org/drawingml/2006/main" noGrp="1"/>
          </p:cNvSpPr>
          <p:nvPr/>
        </p:nvSpPr>
        <p:spPr>
          <a:xfrm xmlns:a="http://schemas.openxmlformats.org/drawingml/2006/main">
            <a:off x="621030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Learn</a:t>
            </a:r>
          </a:p>
        </p:txBody>
      </p:sp>
      <p:sp>
        <p:nvSpPr>
          <p:cNvPr id="11" name="">
            <a:extLst xmlns:a="http://schemas.openxmlformats.org/drawingml/2006/main">
              <a:ext uri="{FF2B5EF4-FFF2-40B4-BE49-F238E27FC236}">
                <a16:creationId xmlns:a16="http://schemas.microsoft.com/office/drawing/2014/main" id="{10F11C2D-47E0-4CB8-9E41-30F03E09D72B}"/>
              </a:ext>
            </a:extLst>
          </p:cNvPr>
          <p:cNvSpPr>
            <a:spLocks xmlns:a="http://schemas.openxmlformats.org/drawingml/2006/main" noGrp="1"/>
          </p:cNvSpPr>
          <p:nvPr/>
        </p:nvSpPr>
        <p:spPr>
          <a:xfrm xmlns:a="http://schemas.openxmlformats.org/drawingml/2006/main">
            <a:off x="621030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Keep or skip, then</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confirm a preference</a:t>
            </a:r>
          </a:p>
        </p:txBody>
      </p:sp>
      <p:sp>
        <p:nvSpPr>
          <p:cNvPr id="12" name="">
            <a:extLst xmlns:a="http://schemas.openxmlformats.org/drawingml/2006/main">
              <a:ext uri="{FF2B5EF4-FFF2-40B4-BE49-F238E27FC236}">
                <a16:creationId xmlns:a16="http://schemas.microsoft.com/office/drawing/2014/main" id="{13A5A672-235B-4297-9331-804B5F5D27CA}"/>
              </a:ext>
            </a:extLst>
          </p:cNvPr>
          <p:cNvSpPr>
            <a:spLocks xmlns:a="http://schemas.openxmlformats.org/drawingml/2006/main" noGrp="1"/>
          </p:cNvSpPr>
          <p:nvPr/>
        </p:nvSpPr>
        <p:spPr>
          <a:xfrm xmlns:a="http://schemas.openxmlformats.org/drawingml/2006/main">
            <a:off x="9010650" y="176212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47C61"/>
                </a:solidFill>
                <a:latin typeface="Arial"/>
                <a:ea typeface="Arial"/>
                <a:cs typeface="Arial"/>
              </a:defRPr>
            </a:pPr>
            <a:r>
              <a:rPr sz="5400" b="1">
                <a:solidFill>
                  <a:srgbClr val="147C61"/>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209D0D65-5099-4F4A-8407-64798B50D758}"/>
              </a:ext>
            </a:extLst>
          </p:cNvPr>
          <p:cNvSpPr>
            <a:spLocks xmlns:a="http://schemas.openxmlformats.org/drawingml/2006/main" noGrp="1"/>
          </p:cNvSpPr>
          <p:nvPr/>
        </p:nvSpPr>
        <p:spPr>
          <a:xfrm xmlns:a="http://schemas.openxmlformats.org/drawingml/2006/main">
            <a:off x="9010650" y="29051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B27"/>
                </a:solidFill>
                <a:latin typeface="Arial"/>
                <a:ea typeface="Arial"/>
                <a:cs typeface="Arial"/>
              </a:defRPr>
            </a:pPr>
            <a:r>
              <a:rPr sz="2550" b="1">
                <a:solidFill>
                  <a:srgbClr val="152B27"/>
                </a:solidFill>
                <a:latin typeface="Arial"/>
                <a:ea typeface="Arial"/>
                <a:cs typeface="Arial"/>
              </a:rPr>
              <a:t>Reuse</a:t>
            </a:r>
          </a:p>
        </p:txBody>
      </p:sp>
      <p:sp>
        <p:nvSpPr>
          <p:cNvPr id="14" name="">
            <a:extLst xmlns:a="http://schemas.openxmlformats.org/drawingml/2006/main">
              <a:ext uri="{FF2B5EF4-FFF2-40B4-BE49-F238E27FC236}">
                <a16:creationId xmlns:a16="http://schemas.microsoft.com/office/drawing/2014/main" id="{0A13EF55-71D0-4999-926C-449B1FF9BD5E}"/>
              </a:ext>
            </a:extLst>
          </p:cNvPr>
          <p:cNvSpPr>
            <a:spLocks xmlns:a="http://schemas.openxmlformats.org/drawingml/2006/main" noGrp="1"/>
          </p:cNvSpPr>
          <p:nvPr/>
        </p:nvSpPr>
        <p:spPr>
          <a:xfrm xmlns:a="http://schemas.openxmlformats.org/drawingml/2006/main">
            <a:off x="9010650" y="3524250"/>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Prepare a pack with</a:t>
            </a:r>
          </a:p>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known answers</a:t>
            </a:r>
          </a:p>
        </p:txBody>
      </p:sp>
      <p:sp>
        <p:nvSpPr>
          <p:cNvPr id="15" name="">
            <a:extLst xmlns:a="http://schemas.openxmlformats.org/drawingml/2006/main">
              <a:ext uri="{FF2B5EF4-FFF2-40B4-BE49-F238E27FC236}">
                <a16:creationId xmlns:a16="http://schemas.microsoft.com/office/drawing/2014/main" id="{EFBBBE91-8FEA-4663-AEB8-5E954E7E8BFD}"/>
              </a:ext>
            </a:extLst>
          </p:cNvPr>
          <p:cNvSpPr>
            <a:spLocks xmlns:a="http://schemas.openxmlformats.org/drawingml/2006/main" noGrp="1"/>
          </p:cNvSpPr>
          <p:nvPr/>
        </p:nvSpPr>
        <p:spPr>
          <a:xfrm xmlns:a="http://schemas.openxmlformats.org/drawingml/2006/main">
            <a:off x="609600" y="50482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B27"/>
                </a:solidFill>
                <a:latin typeface="Arial"/>
                <a:ea typeface="Arial"/>
                <a:cs typeface="Arial"/>
              </a:defRPr>
            </a:pPr>
            <a:r>
              <a:rPr sz="2400" b="1">
                <a:solidFill>
                  <a:srgbClr val="152B27"/>
                </a:solidFill>
                <a:latin typeface="Arial"/>
                <a:ea typeface="Arial"/>
                <a:cs typeface="Arial"/>
              </a:rPr>
              <a:t>“This role fits your verified skills and avoids the seniority you rejected.”</a:t>
            </a:r>
          </a:p>
        </p:txBody>
      </p:sp>
      <p:sp>
        <p:nvSpPr>
          <p:cNvPr id="16" name="">
            <a:extLst xmlns:a="http://schemas.openxmlformats.org/drawingml/2006/main">
              <a:ext uri="{FF2B5EF4-FFF2-40B4-BE49-F238E27FC236}">
                <a16:creationId xmlns:a16="http://schemas.microsoft.com/office/drawing/2014/main" id="{698E9D4E-8354-45C7-9A7D-17AD5FA78C75}"/>
              </a:ext>
            </a:extLst>
          </p:cNvPr>
          <p:cNvSpPr>
            <a:spLocks xmlns:a="http://schemas.openxmlformats.org/drawingml/2006/main" noGrp="1"/>
          </p:cNvSpPr>
          <p:nvPr/>
        </p:nvSpPr>
        <p:spPr>
          <a:xfrm xmlns:a="http://schemas.openxmlformats.org/drawingml/2006/main">
            <a:off x="609600" y="59531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45E"/>
                </a:solidFill>
                <a:latin typeface="Arial"/>
                <a:ea typeface="Arial"/>
                <a:cs typeface="Arial"/>
              </a:defRPr>
            </a:pPr>
            <a:r>
              <a:rPr sz="1650" b="0">
                <a:solidFill>
                  <a:srgbClr val="52645E"/>
                </a:solidFill>
                <a:latin typeface="Arial"/>
                <a:ea typeface="Arial"/>
                <a:cs typeface="Arial"/>
              </a:rPr>
              <a:t>Illustrative explanation. Final submission stays with the job seeker.</a:t>
            </a:r>
          </a:p>
        </p:txBody>
      </p:sp>
    </p:spTree>
    <p:extLst>
      <p:ext uri="{BB962C8B-B14F-4D97-AF65-F5344CB8AC3E}">
        <p14:creationId xmlns:p14="http://schemas.microsoft.com/office/powerpoint/2010/main" val="2068155146"/>
      </p:ext>
    </p:extLst>
  </p:cSld>
</p:sld>
</file>

<file path=ppt/slides/slide5.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D7568D-E3DF-4837-B8F1-CD4451EB85EC}"/>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Real online jobs, fetched live</a:t>
            </a:r>
          </a:p>
        </p:txBody>
      </p:sp>
      <p:sp>
        <p:nvSpPr>
          <p:cNvPr id="2" name="">
            <a:extLst xmlns:a="http://schemas.openxmlformats.org/drawingml/2006/main">
              <a:ext uri="{FF2B5EF4-FFF2-40B4-BE49-F238E27FC236}">
                <a16:creationId xmlns:a16="http://schemas.microsoft.com/office/drawing/2014/main" id="{C54709E9-D0CC-49D9-9FE7-B82017701123}"/>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5371E7B-9D6A-4D01-B150-0CBFEBB11A7E}"/>
              </a:ext>
            </a:extLst>
          </p:cNvPr>
          <p:cNvSpPr>
            <a:spLocks xmlns:a="http://schemas.openxmlformats.org/drawingml/2006/main" noGrp="1"/>
          </p:cNvSpPr>
          <p:nvPr/>
        </p:nvSpPr>
        <p:spPr>
          <a:xfrm xmlns:a="http://schemas.openxmlformats.org/drawingml/2006/main">
            <a:off x="609600" y="1666875"/>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47C61"/>
                </a:solidFill>
                <a:latin typeface="Arial"/>
                <a:ea typeface="Arial"/>
                <a:cs typeface="Arial"/>
              </a:defRPr>
            </a:pPr>
            <a:r>
              <a:rPr sz="7200" b="1">
                <a:solidFill>
                  <a:srgbClr val="147C61"/>
                </a:solidFill>
                <a:latin typeface="Arial"/>
                <a:ea typeface="Arial"/>
                <a:cs typeface="Arial"/>
              </a:rPr>
              <a:t>2,321</a:t>
            </a:r>
          </a:p>
        </p:txBody>
      </p:sp>
      <p:sp>
        <p:nvSpPr>
          <p:cNvPr id="4" name="">
            <a:extLst xmlns:a="http://schemas.openxmlformats.org/drawingml/2006/main">
              <a:ext uri="{FF2B5EF4-FFF2-40B4-BE49-F238E27FC236}">
                <a16:creationId xmlns:a16="http://schemas.microsoft.com/office/drawing/2014/main" id="{E8037787-7EA9-4EBB-AECB-A9B2AD0C7D05}"/>
              </a:ext>
            </a:extLst>
          </p:cNvPr>
          <p:cNvSpPr>
            <a:spLocks xmlns:a="http://schemas.openxmlformats.org/drawingml/2006/main" noGrp="1"/>
          </p:cNvSpPr>
          <p:nvPr/>
        </p:nvSpPr>
        <p:spPr>
          <a:xfrm xmlns:a="http://schemas.openxmlformats.org/drawingml/2006/main">
            <a:off x="647700" y="28956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52B27"/>
                </a:solidFill>
                <a:latin typeface="Arial"/>
                <a:ea typeface="Arial"/>
                <a:cs typeface="Arial"/>
              </a:defRPr>
            </a:pPr>
            <a:r>
              <a:rPr sz="2325" b="1">
                <a:solidFill>
                  <a:srgbClr val="152B27"/>
                </a:solidFill>
                <a:latin typeface="Arial"/>
                <a:ea typeface="Arial"/>
                <a:cs typeface="Arial"/>
              </a:rPr>
              <a:t>open technical roles</a:t>
            </a:r>
          </a:p>
        </p:txBody>
      </p:sp>
      <p:sp>
        <p:nvSpPr>
          <p:cNvPr id="5" name="">
            <a:extLst xmlns:a="http://schemas.openxmlformats.org/drawingml/2006/main">
              <a:ext uri="{FF2B5EF4-FFF2-40B4-BE49-F238E27FC236}">
                <a16:creationId xmlns:a16="http://schemas.microsoft.com/office/drawing/2014/main" id="{BAB73E15-2517-44ED-BEEC-EA72B428479A}"/>
              </a:ext>
            </a:extLst>
          </p:cNvPr>
          <p:cNvSpPr>
            <a:spLocks xmlns:a="http://schemas.openxmlformats.org/drawingml/2006/main" noGrp="1"/>
          </p:cNvSpPr>
          <p:nvPr/>
        </p:nvSpPr>
        <p:spPr>
          <a:xfrm xmlns:a="http://schemas.openxmlformats.org/drawingml/2006/main">
            <a:off x="647700" y="3609975"/>
            <a:ext cx="381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19 companies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Greenhouse, Ashby, Lever</a:t>
            </a:r>
          </a:p>
        </p:txBody>
      </p:sp>
      <p:sp>
        <p:nvSpPr>
          <p:cNvPr id="6" name="">
            <a:extLst xmlns:a="http://schemas.openxmlformats.org/drawingml/2006/main">
              <a:ext uri="{FF2B5EF4-FFF2-40B4-BE49-F238E27FC236}">
                <a16:creationId xmlns:a16="http://schemas.microsoft.com/office/drawing/2014/main" id="{AFDFF479-7EBB-4D21-BF43-72D1D207B8E0}"/>
              </a:ext>
            </a:extLst>
          </p:cNvPr>
          <p:cNvSpPr>
            <a:spLocks xmlns:a="http://schemas.openxmlformats.org/drawingml/2006/main" noGrp="1"/>
          </p:cNvSpPr>
          <p:nvPr/>
        </p:nvSpPr>
        <p:spPr>
          <a:xfrm xmlns:a="http://schemas.openxmlformats.org/drawingml/2006/main">
            <a:off x="647700" y="5267325"/>
            <a:ext cx="404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Fetched Sep 11, 2026</a:t>
            </a:r>
          </a:p>
          <a:p xmlns:a="http://schemas.openxmlformats.org/drawingml/2006/main">
            <a:pPr>
              <a:defRPr sz="1800" b="0">
                <a:solidFill>
                  <a:srgbClr val="52645E"/>
                </a:solidFill>
                <a:latin typeface="Arial"/>
                <a:ea typeface="Arial"/>
                <a:cs typeface="Arial"/>
              </a:defRPr>
            </a:pPr>
            <a:r>
              <a:rPr sz="1800" b="0">
                <a:solidFill>
                  <a:srgbClr val="52645E"/>
                </a:solidFill>
                <a:latin typeface="Arial"/>
                <a:ea typeface="Arial"/>
                <a:cs typeface="Arial"/>
              </a:rPr>
              <a:t>US, Canada and remote</a:t>
            </a:r>
          </a:p>
        </p:txBody>
      </p:sp>
      <p:graphicFrame>
        <p:nvGraphicFramePr>
          <p:cNvPr id="14" name="Chart"/>
          <p:cNvGraphicFramePr/>
          <p:nvPr/>
        </p:nvGraphicFramePr>
        <p:xfrm>
          <a:off xmlns:a="http://schemas.openxmlformats.org/drawingml/2006/main" x="5048250" y="1676400"/>
          <a:ext xmlns:a="http://schemas.openxmlformats.org/drawingml/2006/main" cx="6286500" cy="4248150"/>
        </p:xfrm>
        <a:graphic xmlns:a="http://schemas.openxmlformats.org/drawingml/2006/main">
          <a:graphicData uri="http://schemas.openxmlformats.org/drawingml/2006/chart">
            <c:chart xmlns:r="http://schemas.openxmlformats.org/officeDocument/2006/relationships" xmlns:c="http://schemas.openxmlformats.org/drawingml/2006/chart" r:id="Raceb00d003864a1d"/>
          </a:graphicData>
        </a:graphic>
      </p:graphicFrame>
    </p:spTree>
    <p:extLst>
      <p:ext uri="{BB962C8B-B14F-4D97-AF65-F5344CB8AC3E}">
        <p14:creationId xmlns:p14="http://schemas.microsoft.com/office/powerpoint/2010/main" val="1989680754"/>
      </p:ext>
    </p:extLst>
  </p:cSld>
</p:sld>
</file>

<file path=ppt/slides/slide6.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D04EAD-D2AA-4831-A48B-E6EE17EAF567}"/>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Five technologies, five distinct jobs</a:t>
            </a:r>
          </a:p>
        </p:txBody>
      </p:sp>
      <p:sp>
        <p:nvSpPr>
          <p:cNvPr id="2" name="">
            <a:extLst xmlns:a="http://schemas.openxmlformats.org/drawingml/2006/main">
              <a:ext uri="{FF2B5EF4-FFF2-40B4-BE49-F238E27FC236}">
                <a16:creationId xmlns:a16="http://schemas.microsoft.com/office/drawing/2014/main" id="{51BDCD25-615A-4CC6-BCE3-7850B4CC11B5}"/>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06</a:t>
            </a:r>
          </a:p>
        </p:txBody>
      </p:sp>
      <p:graphicFrame>
        <p:nvGraphicFramePr>
          <p:cNvPr id="7" name=""/>
          <p:cNvGraphicFramePr/>
          <p:nvPr/>
        </p:nvGraphicFramePr>
        <p:xfrm>
          <a:off xmlns:a="http://schemas.openxmlformats.org/drawingml/2006/main" x="609600" y="1562100"/>
          <a:ext xmlns:a="http://schemas.openxmlformats.org/drawingml/2006/main" cx="10953750" cy="3857625"/>
        </p:xfrm>
        <a:graphic xmlns:a="http://schemas.openxmlformats.org/drawingml/2006/main">
          <a:graphicData uri="http://schemas.openxmlformats.org/drawingml/2006/table">
            <a:tbl>
              <a:tblPr/>
              <a:tblGrid>
                <a:gridCol w="1762125"/>
                <a:gridCol w="2047875"/>
                <a:gridCol w="7143750"/>
              </a:tblGrid>
              <a:tr h="642938">
                <a:tc>
                  <a:txBody>
                    <a:bodyPr/>
                    <a:lstStyle/>
                    <a:p>
                      <a:r>
                        <a:rPr sz="1875" b="1">
                          <a:solidFill>
                            <a:srgbClr val="FFFFFF"/>
                          </a:solidFill>
                          <a:latin typeface="Arial"/>
                          <a:ea typeface="Arial"/>
                          <a:cs typeface="Arial"/>
                        </a:rPr>
                        <a:t>Layer</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Technology</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Concrete output</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Structure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Cognee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Claims and preferences with provenance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Memory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HydraDB</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Candidate graph and decision history</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Insight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Hotdata</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Rankable jobs and run-level analytics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Motion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RocketRide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Sequenced tool calls and application packs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Rote / Modiqo</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Recorded tool paths for repeat work</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8077B236-BD78-4046-B732-4A1C8B9A60E9}"/>
              </a:ext>
            </a:extLst>
          </p:cNvPr>
          <p:cNvSpPr>
            <a:spLocks xmlns:a="http://schemas.openxmlformats.org/drawingml/2006/main" noGrp="1"/>
          </p:cNvSpPr>
          <p:nvPr/>
        </p:nvSpPr>
        <p:spPr>
          <a:xfrm xmlns:a="http://schemas.openxmlformats.org/drawingml/2006/main">
            <a:off x="609600" y="5762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C61"/>
                </a:solidFill>
                <a:latin typeface="Arial"/>
                <a:ea typeface="Arial"/>
                <a:cs typeface="Arial"/>
              </a:defRPr>
            </a:pPr>
            <a:r>
              <a:rPr sz="1950" b="1">
                <a:solidFill>
                  <a:srgbClr val="147C61"/>
                </a:solidFill>
                <a:latin typeface="Arial"/>
                <a:ea typeface="Arial"/>
                <a:cs typeface="Arial"/>
              </a:rPr>
              <a:t>Snyk checks dependencies and code before the demo.</a:t>
            </a:r>
          </a:p>
        </p:txBody>
      </p:sp>
    </p:spTree>
    <p:extLst>
      <p:ext uri="{BB962C8B-B14F-4D97-AF65-F5344CB8AC3E}">
        <p14:creationId xmlns:p14="http://schemas.microsoft.com/office/powerpoint/2010/main" val="1836054976"/>
      </p:ext>
    </p:extLst>
  </p:cSld>
</p:sld>
</file>

<file path=ppt/slides/slide7.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19E5DE-5E60-42F3-BB10-ABF04C251771}"/>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The technical choices behind the loop</a:t>
            </a:r>
          </a:p>
        </p:txBody>
      </p:sp>
      <p:sp>
        <p:nvSpPr>
          <p:cNvPr id="2" name="">
            <a:extLst xmlns:a="http://schemas.openxmlformats.org/drawingml/2006/main">
              <a:ext uri="{FF2B5EF4-FFF2-40B4-BE49-F238E27FC236}">
                <a16:creationId xmlns:a16="http://schemas.microsoft.com/office/drawing/2014/main" id="{DF93D580-3060-4BFF-B04A-787BBD40CBA1}"/>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B43579F-D0B8-46AC-9F1E-BA53180E9668}"/>
              </a:ext>
            </a:extLst>
          </p:cNvPr>
          <p:cNvSpPr>
            <a:spLocks xmlns:a="http://schemas.openxmlformats.org/drawingml/2006/main" noGrp="1"/>
          </p:cNvSpPr>
          <p:nvPr/>
        </p:nvSpPr>
        <p:spPr>
          <a:xfrm xmlns:a="http://schemas.openxmlformats.org/drawingml/2006/main">
            <a:off x="609600" y="16954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C61"/>
                </a:solidFill>
                <a:latin typeface="Arial"/>
                <a:ea typeface="Arial"/>
                <a:cs typeface="Arial"/>
              </a:defRPr>
            </a:pPr>
            <a:r>
              <a:rPr sz="2700" b="1">
                <a:solidFill>
                  <a:srgbClr val="147C61"/>
                </a:solidFill>
                <a:latin typeface="Arial"/>
                <a:ea typeface="Arial"/>
                <a:cs typeface="Arial"/>
              </a:rPr>
              <a:t>A fixed scorer, richer memory</a:t>
            </a:r>
          </a:p>
        </p:txBody>
      </p:sp>
      <p:sp>
        <p:nvSpPr>
          <p:cNvPr id="4" name="">
            <a:extLst xmlns:a="http://schemas.openxmlformats.org/drawingml/2006/main">
              <a:ext uri="{FF2B5EF4-FFF2-40B4-BE49-F238E27FC236}">
                <a16:creationId xmlns:a16="http://schemas.microsoft.com/office/drawing/2014/main" id="{BED19E9E-0CF8-4644-8D60-BCADDFBC7F5F}"/>
              </a:ext>
            </a:extLst>
          </p:cNvPr>
          <p:cNvSpPr>
            <a:spLocks xmlns:a="http://schemas.openxmlformats.org/drawingml/2006/main" noGrp="1"/>
          </p:cNvSpPr>
          <p:nvPr/>
        </p:nvSpPr>
        <p:spPr>
          <a:xfrm xmlns:a="http://schemas.openxmlformats.org/drawingml/2006/main">
            <a:off x="60960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49AF4AE4-18BE-44C1-93B3-8C75DC84EB77}"/>
              </a:ext>
            </a:extLst>
          </p:cNvPr>
          <p:cNvSpPr>
            <a:spLocks xmlns:a="http://schemas.openxmlformats.org/drawingml/2006/main" noGrp="1"/>
          </p:cNvSpPr>
          <p:nvPr/>
        </p:nvSpPr>
        <p:spPr>
          <a:xfrm xmlns:a="http://schemas.openxmlformats.org/drawingml/2006/main">
            <a:off x="60960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Verified coverage</a:t>
            </a:r>
          </a:p>
        </p:txBody>
      </p:sp>
      <p:sp>
        <p:nvSpPr>
          <p:cNvPr id="6" name="">
            <a:extLst xmlns:a="http://schemas.openxmlformats.org/drawingml/2006/main">
              <a:ext uri="{FF2B5EF4-FFF2-40B4-BE49-F238E27FC236}">
                <a16:creationId xmlns:a16="http://schemas.microsoft.com/office/drawing/2014/main" id="{8AFFC539-1157-4E73-844C-E3B2C4944A39}"/>
              </a:ext>
            </a:extLst>
          </p:cNvPr>
          <p:cNvSpPr>
            <a:spLocks xmlns:a="http://schemas.openxmlformats.org/drawingml/2006/main" noGrp="1"/>
          </p:cNvSpPr>
          <p:nvPr/>
        </p:nvSpPr>
        <p:spPr>
          <a:xfrm xmlns:a="http://schemas.openxmlformats.org/drawingml/2006/main">
            <a:off x="4371975"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D63807D0-9525-4ADA-AAA0-2B90B2DCBB8D}"/>
              </a:ext>
            </a:extLst>
          </p:cNvPr>
          <p:cNvSpPr>
            <a:spLocks xmlns:a="http://schemas.openxmlformats.org/drawingml/2006/main" noGrp="1"/>
          </p:cNvSpPr>
          <p:nvPr/>
        </p:nvSpPr>
        <p:spPr>
          <a:xfrm xmlns:a="http://schemas.openxmlformats.org/drawingml/2006/main">
            <a:off x="4371975"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Retrieval relevance</a:t>
            </a:r>
          </a:p>
        </p:txBody>
      </p:sp>
      <p:sp>
        <p:nvSpPr>
          <p:cNvPr id="8" name="">
            <a:extLst xmlns:a="http://schemas.openxmlformats.org/drawingml/2006/main">
              <a:ext uri="{FF2B5EF4-FFF2-40B4-BE49-F238E27FC236}">
                <a16:creationId xmlns:a16="http://schemas.microsoft.com/office/drawing/2014/main" id="{6D711600-F1A1-480D-A3F4-B1BA6837298E}"/>
              </a:ext>
            </a:extLst>
          </p:cNvPr>
          <p:cNvSpPr>
            <a:spLocks xmlns:a="http://schemas.openxmlformats.org/drawingml/2006/main" noGrp="1"/>
          </p:cNvSpPr>
          <p:nvPr/>
        </p:nvSpPr>
        <p:spPr>
          <a:xfrm xmlns:a="http://schemas.openxmlformats.org/drawingml/2006/main">
            <a:off x="8134350" y="2524125"/>
            <a:ext cx="3333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152B27"/>
                </a:solidFill>
                <a:latin typeface="Arial"/>
                <a:ea typeface="Arial"/>
                <a:cs typeface="Arial"/>
              </a:defRPr>
            </a:pPr>
            <a:r>
              <a:rPr sz="6000" b="1">
                <a:solidFill>
                  <a:srgbClr val="152B27"/>
                </a:solidFill>
                <a:latin typeface="Arial"/>
                <a:ea typeface="Arial"/>
                <a:cs typeface="Arial"/>
              </a:rPr>
              <a:t>25%</a:t>
            </a:r>
          </a:p>
        </p:txBody>
      </p:sp>
      <p:sp>
        <p:nvSpPr>
          <p:cNvPr id="9" name="">
            <a:extLst xmlns:a="http://schemas.openxmlformats.org/drawingml/2006/main">
              <a:ext uri="{FF2B5EF4-FFF2-40B4-BE49-F238E27FC236}">
                <a16:creationId xmlns:a16="http://schemas.microsoft.com/office/drawing/2014/main" id="{503DEACD-2B99-4D59-8EDD-A3C2361B5B87}"/>
              </a:ext>
            </a:extLst>
          </p:cNvPr>
          <p:cNvSpPr>
            <a:spLocks xmlns:a="http://schemas.openxmlformats.org/drawingml/2006/main" noGrp="1"/>
          </p:cNvSpPr>
          <p:nvPr/>
        </p:nvSpPr>
        <p:spPr>
          <a:xfrm xmlns:a="http://schemas.openxmlformats.org/drawingml/2006/main">
            <a:off x="8134350" y="36861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27"/>
                </a:solidFill>
                <a:latin typeface="Arial"/>
                <a:ea typeface="Arial"/>
                <a:cs typeface="Arial"/>
              </a:defRPr>
            </a:pPr>
            <a:r>
              <a:rPr sz="2175" b="0">
                <a:solidFill>
                  <a:srgbClr val="152B27"/>
                </a:solidFill>
                <a:latin typeface="Arial"/>
                <a:ea typeface="Arial"/>
                <a:cs typeface="Arial"/>
              </a:rPr>
              <a:t>Preference fit</a:t>
            </a:r>
          </a:p>
        </p:txBody>
      </p:sp>
      <p:sp>
        <p:nvSpPr>
          <p:cNvPr id="10" name="">
            <a:extLst xmlns:a="http://schemas.openxmlformats.org/drawingml/2006/main">
              <a:ext uri="{FF2B5EF4-FFF2-40B4-BE49-F238E27FC236}">
                <a16:creationId xmlns:a16="http://schemas.microsoft.com/office/drawing/2014/main" id="{B7766E28-F50C-41FE-93A9-0FA0EF824F0D}"/>
              </a:ext>
            </a:extLst>
          </p:cNvPr>
          <p:cNvSpPr>
            <a:spLocks xmlns:a="http://schemas.openxmlformats.org/drawingml/2006/main" noGrp="1"/>
          </p:cNvSpPr>
          <p:nvPr/>
        </p:nvSpPr>
        <p:spPr>
          <a:xfrm xmlns:a="http://schemas.openxmlformats.org/drawingml/2006/main">
            <a:off x="609600" y="48577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Rote: exact replay, partial replay or a new path</a:t>
            </a:r>
          </a:p>
        </p:txBody>
      </p:sp>
      <p:sp>
        <p:nvSpPr>
          <p:cNvPr id="11" name="">
            <a:extLst xmlns:a="http://schemas.openxmlformats.org/drawingml/2006/main">
              <a:ext uri="{FF2B5EF4-FFF2-40B4-BE49-F238E27FC236}">
                <a16:creationId xmlns:a16="http://schemas.microsoft.com/office/drawing/2014/main" id="{39CF0875-F879-4422-8CF4-B5D7F2D799E5}"/>
              </a:ext>
            </a:extLst>
          </p:cNvPr>
          <p:cNvSpPr>
            <a:spLocks xmlns:a="http://schemas.openxmlformats.org/drawingml/2006/main" noGrp="1"/>
          </p:cNvSpPr>
          <p:nvPr/>
        </p:nvSpPr>
        <p:spPr>
          <a:xfrm xmlns:a="http://schemas.openxmlformats.org/drawingml/2006/main">
            <a:off x="6096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27"/>
                </a:solidFill>
                <a:latin typeface="Arial"/>
                <a:ea typeface="Arial"/>
                <a:cs typeface="Arial"/>
              </a:defRPr>
            </a:pPr>
            <a:r>
              <a:rPr sz="2025" b="0">
                <a:solidFill>
                  <a:srgbClr val="152B27"/>
                </a:solidFill>
                <a:latin typeface="Arial"/>
                <a:ea typeface="Arial"/>
                <a:cs typeface="Arial"/>
              </a:rPr>
              <a:t>Cited claims in every pack. Autonomy requires user approval.</a:t>
            </a:r>
          </a:p>
        </p:txBody>
      </p:sp>
    </p:spTree>
    <p:extLst>
      <p:ext uri="{BB962C8B-B14F-4D97-AF65-F5344CB8AC3E}">
        <p14:creationId xmlns:p14="http://schemas.microsoft.com/office/powerpoint/2010/main" val="1902760148"/>
      </p:ext>
    </p:extLst>
  </p:cSld>
</p:sld>
</file>

<file path=ppt/slides/slide8.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6FB251-46DD-4081-9ECA-7143DDA0D3B9}"/>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Evidence we can stand behind</a:t>
            </a:r>
          </a:p>
        </p:txBody>
      </p:sp>
      <p:sp>
        <p:nvSpPr>
          <p:cNvPr id="2" name="">
            <a:extLst xmlns:a="http://schemas.openxmlformats.org/drawingml/2006/main">
              <a:ext uri="{FF2B5EF4-FFF2-40B4-BE49-F238E27FC236}">
                <a16:creationId xmlns:a16="http://schemas.microsoft.com/office/drawing/2014/main" id="{B857266A-9FC2-4680-AF17-30AC6A158B4E}"/>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7418158-37EB-4314-A98F-E5612F2FEE10}"/>
              </a:ext>
            </a:extLst>
          </p:cNvPr>
          <p:cNvSpPr>
            <a:spLocks xmlns:a="http://schemas.openxmlformats.org/drawingml/2006/main" noGrp="1"/>
          </p:cNvSpPr>
          <p:nvPr/>
        </p:nvSpPr>
        <p:spPr>
          <a:xfrm xmlns:a="http://schemas.openxmlformats.org/drawingml/2006/main">
            <a:off x="609600" y="1695450"/>
            <a:ext cx="3714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47C61"/>
                </a:solidFill>
                <a:latin typeface="Arial"/>
                <a:ea typeface="Arial"/>
                <a:cs typeface="Arial"/>
              </a:defRPr>
            </a:pPr>
            <a:r>
              <a:rPr sz="7350" b="1">
                <a:solidFill>
                  <a:srgbClr val="147C61"/>
                </a:solidFill>
                <a:latin typeface="Arial"/>
                <a:ea typeface="Arial"/>
                <a:cs typeface="Arial"/>
              </a:rPr>
              <a:t>85</a:t>
            </a:r>
          </a:p>
        </p:txBody>
      </p:sp>
      <p:sp>
        <p:nvSpPr>
          <p:cNvPr id="4" name="">
            <a:extLst xmlns:a="http://schemas.openxmlformats.org/drawingml/2006/main">
              <a:ext uri="{FF2B5EF4-FFF2-40B4-BE49-F238E27FC236}">
                <a16:creationId xmlns:a16="http://schemas.microsoft.com/office/drawing/2014/main" id="{98D48767-3B0D-4B78-BB4B-05AEB170E496}"/>
              </a:ext>
            </a:extLst>
          </p:cNvPr>
          <p:cNvSpPr>
            <a:spLocks xmlns:a="http://schemas.openxmlformats.org/drawingml/2006/main" noGrp="1"/>
          </p:cNvSpPr>
          <p:nvPr/>
        </p:nvSpPr>
        <p:spPr>
          <a:xfrm xmlns:a="http://schemas.openxmlformats.org/drawingml/2006/main">
            <a:off x="647700" y="29337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52B27"/>
                </a:solidFill>
                <a:latin typeface="Arial"/>
                <a:ea typeface="Arial"/>
                <a:cs typeface="Arial"/>
              </a:defRPr>
            </a:pPr>
            <a:r>
              <a:rPr sz="2250" b="1">
                <a:solidFill>
                  <a:srgbClr val="152B27"/>
                </a:solidFill>
                <a:latin typeface="Arial"/>
                <a:ea typeface="Arial"/>
                <a:cs typeface="Arial"/>
              </a:rPr>
              <a:t>offline tests passed</a:t>
            </a:r>
          </a:p>
        </p:txBody>
      </p:sp>
      <p:sp>
        <p:nvSpPr>
          <p:cNvPr id="5" name="">
            <a:extLst xmlns:a="http://schemas.openxmlformats.org/drawingml/2006/main">
              <a:ext uri="{FF2B5EF4-FFF2-40B4-BE49-F238E27FC236}">
                <a16:creationId xmlns:a16="http://schemas.microsoft.com/office/drawing/2014/main" id="{7FA72A80-578B-425C-B599-32B6F30ACD84}"/>
              </a:ext>
            </a:extLst>
          </p:cNvPr>
          <p:cNvSpPr>
            <a:spLocks xmlns:a="http://schemas.openxmlformats.org/drawingml/2006/main" noGrp="1"/>
          </p:cNvSpPr>
          <p:nvPr/>
        </p:nvSpPr>
        <p:spPr>
          <a:xfrm xmlns:a="http://schemas.openxmlformats.org/drawingml/2006/main">
            <a:off x="647700" y="3781425"/>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2,321 jobs</a:t>
            </a:r>
          </a:p>
          <a:p xmlns:a="http://schemas.openxmlformats.org/drawingml/2006/main">
            <a:pPr>
              <a:defRPr sz="2400" b="0">
                <a:solidFill>
                  <a:srgbClr val="152B27"/>
                </a:solidFill>
                <a:latin typeface="Arial"/>
                <a:ea typeface="Arial"/>
                <a:cs typeface="Arial"/>
              </a:defRPr>
            </a:pPr>
            <a:r>
              <a:rPr sz="2400" b="0">
                <a:solidFill>
                  <a:srgbClr val="152B27"/>
                </a:solidFill>
                <a:latin typeface="Arial"/>
                <a:ea typeface="Arial"/>
                <a:cs typeface="Arial"/>
              </a:rPr>
              <a:t>loaded and read back</a:t>
            </a:r>
          </a:p>
        </p:txBody>
      </p:sp>
      <p:sp>
        <p:nvSpPr>
          <p:cNvPr id="6" name="">
            <a:extLst xmlns:a="http://schemas.openxmlformats.org/drawingml/2006/main">
              <a:ext uri="{FF2B5EF4-FFF2-40B4-BE49-F238E27FC236}">
                <a16:creationId xmlns:a16="http://schemas.microsoft.com/office/drawing/2014/main" id="{8DA95E68-599C-49D8-9810-AA477354F1EA}"/>
              </a:ext>
            </a:extLst>
          </p:cNvPr>
          <p:cNvSpPr>
            <a:spLocks xmlns:a="http://schemas.openxmlformats.org/drawingml/2006/main" noGrp="1"/>
          </p:cNvSpPr>
          <p:nvPr/>
        </p:nvSpPr>
        <p:spPr>
          <a:xfrm xmlns:a="http://schemas.openxmlformats.org/drawingml/2006/main">
            <a:off x="647700" y="526732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Live compounding evidence</a:t>
            </a:r>
          </a:p>
          <a:p xmlns:a="http://schemas.openxmlformats.org/drawingml/2006/main">
            <a:pPr>
              <a:defRPr sz="2025" b="0">
                <a:solidFill>
                  <a:srgbClr val="52645E"/>
                </a:solidFill>
                <a:latin typeface="Arial"/>
                <a:ea typeface="Arial"/>
                <a:cs typeface="Arial"/>
              </a:defRPr>
            </a:pPr>
            <a:r>
              <a:rPr sz="2025" b="0">
                <a:solidFill>
                  <a:srgbClr val="52645E"/>
                </a:solidFill>
                <a:latin typeface="Arial"/>
                <a:ea typeface="Arial"/>
                <a:cs typeface="Arial"/>
              </a:rPr>
              <a:t>is the next demo gate.</a:t>
            </a:r>
          </a:p>
        </p:txBody>
      </p:sp>
      <p:graphicFrame>
        <p:nvGraphicFramePr>
          <p:cNvPr id="15" name=""/>
          <p:cNvGraphicFramePr/>
          <p:nvPr/>
        </p:nvGraphicFramePr>
        <p:xfrm>
          <a:off xmlns:a="http://schemas.openxmlformats.org/drawingml/2006/main" x="4991100" y="1743075"/>
          <a:ext xmlns:a="http://schemas.openxmlformats.org/drawingml/2006/main" cx="6572250" cy="3581400"/>
        </p:xfrm>
        <a:graphic xmlns:a="http://schemas.openxmlformats.org/drawingml/2006/main">
          <a:graphicData uri="http://schemas.openxmlformats.org/drawingml/2006/table">
            <a:tbl>
              <a:tblPr/>
              <a:tblGrid>
                <a:gridCol w="1952625"/>
                <a:gridCol w="4619625"/>
              </a:tblGrid>
              <a:tr h="895350">
                <a:tc>
                  <a:txBody>
                    <a:bodyPr/>
                    <a:lstStyle/>
                    <a:p>
                      <a:r>
                        <a:rPr sz="1875" b="1">
                          <a:solidFill>
                            <a:srgbClr val="FFFFFF"/>
                          </a:solidFill>
                          <a:latin typeface="Arial"/>
                          <a:ea typeface="Arial"/>
                          <a:cs typeface="Arial"/>
                        </a:rPr>
                        <a:t>Measure</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Record on every run</a:t>
                      </a:r>
                    </a:p>
                  </a:txBody>
                  <a:tcPr marL="152400" marR="152400" marT="114300" marB="114300" anchor="ctr">
                    <a:solidFill>
                      <a:srgbClr val="147C61"/>
                    </a:solidFill>
                  </a:tcPr>
                </a:tc>
              </a:tr>
              <a:tr h="895350">
                <a:tc>
                  <a:txBody>
                    <a:bodyPr/>
                    <a:lstStyle/>
                    <a:p>
                      <a:r>
                        <a:rPr sz="1875" b="1">
                          <a:solidFill>
                            <a:srgbClr val="152B27"/>
                          </a:solidFill>
                          <a:latin typeface="Arial"/>
                          <a:ea typeface="Arial"/>
                          <a:cs typeface="Arial"/>
                        </a:rPr>
                        <a:t>Cost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Tokens or a labeled proxy</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Human effort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Questions and approvals</a:t>
                      </a:r>
                    </a:p>
                  </a:txBody>
                  <a:tcPr marL="152400" marR="152400" marT="114300" marB="114300" anchor="ctr">
                    <a:solidFill>
                      <a:srgbClr val="F5F5EE"/>
                    </a:solidFill>
                  </a:tcPr>
                </a:tc>
              </a:tr>
              <a:tr h="895350">
                <a:tc>
                  <a:txBody>
                    <a:bodyPr/>
                    <a:lstStyle/>
                    <a:p>
                      <a:r>
                        <a:rPr sz="1875" b="1">
                          <a:solidFill>
                            <a:srgbClr val="152B27"/>
                          </a:solidFill>
                          <a:latin typeface="Arial"/>
                          <a:ea typeface="Arial"/>
                          <a:cs typeface="Arial"/>
                        </a:rPr>
                        <a:t>Judgment</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Recall on human-skipped jobs</a:t>
                      </a:r>
                    </a:p>
                  </a:txBody>
                  <a:tcPr marL="152400" marR="152400" marT="114300" marB="114300" anchor="ctr">
                    <a:solidFill>
                      <a:srgbClr val="F5F5EE"/>
                    </a:solidFill>
                  </a:tcPr>
                </a:tc>
              </a:tr>
            </a:tbl>
          </a:graphicData>
        </a:graphic>
      </p:graphicFrame>
      <p:sp>
        <p:nvSpPr>
          <p:cNvPr id="8" name="">
            <a:extLst xmlns:a="http://schemas.openxmlformats.org/drawingml/2006/main">
              <a:ext uri="{FF2B5EF4-FFF2-40B4-BE49-F238E27FC236}">
                <a16:creationId xmlns:a16="http://schemas.microsoft.com/office/drawing/2014/main" id="{88674EA4-500C-4E37-8CCC-3CE85CDC3A06}"/>
              </a:ext>
            </a:extLst>
          </p:cNvPr>
          <p:cNvSpPr>
            <a:spLocks xmlns:a="http://schemas.openxmlformats.org/drawingml/2006/main" noGrp="1"/>
          </p:cNvSpPr>
          <p:nvPr/>
        </p:nvSpPr>
        <p:spPr>
          <a:xfrm xmlns:a="http://schemas.openxmlformats.org/drawingml/2006/main">
            <a:off x="4991100" y="5695950"/>
            <a:ext cx="642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C61"/>
                </a:solidFill>
                <a:latin typeface="Arial"/>
                <a:ea typeface="Arial"/>
                <a:cs typeface="Arial"/>
              </a:defRPr>
            </a:pPr>
            <a:r>
              <a:rPr sz="2250" b="1">
                <a:solidFill>
                  <a:srgbClr val="147C61"/>
                </a:solidFill>
                <a:latin typeface="Arial"/>
                <a:ea typeface="Arial"/>
                <a:cs typeface="Arial"/>
              </a:rPr>
              <a:t>Cost, effort and judgment together</a:t>
            </a:r>
          </a:p>
        </p:txBody>
      </p:sp>
    </p:spTree>
    <p:extLst>
      <p:ext uri="{BB962C8B-B14F-4D97-AF65-F5344CB8AC3E}">
        <p14:creationId xmlns:p14="http://schemas.microsoft.com/office/powerpoint/2010/main" val="275042072"/>
      </p:ext>
    </p:extLst>
  </p:cSld>
</p:sld>
</file>

<file path=ppt/slides/slide9.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276323-FFBF-48A8-971A-8E6D2BBFC269}"/>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A three-hour MVP scope</a:t>
            </a:r>
          </a:p>
        </p:txBody>
      </p:sp>
      <p:sp>
        <p:nvSpPr>
          <p:cNvPr id="2" name="">
            <a:extLst xmlns:a="http://schemas.openxmlformats.org/drawingml/2006/main">
              <a:ext uri="{FF2B5EF4-FFF2-40B4-BE49-F238E27FC236}">
                <a16:creationId xmlns:a16="http://schemas.microsoft.com/office/drawing/2014/main" id="{4CAEF8E8-D0BC-4498-AA3D-721680ECBBB6}"/>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09</a:t>
            </a:r>
          </a:p>
        </p:txBody>
      </p:sp>
      <p:graphicFrame>
        <p:nvGraphicFramePr>
          <p:cNvPr id="7" name=""/>
          <p:cNvGraphicFramePr/>
          <p:nvPr/>
        </p:nvGraphicFramePr>
        <p:xfrm>
          <a:off xmlns:a="http://schemas.openxmlformats.org/drawingml/2006/main" x="609600" y="1657350"/>
          <a:ext xmlns:a="http://schemas.openxmlformats.org/drawingml/2006/main" cx="10953750" cy="3552825"/>
        </p:xfrm>
        <a:graphic xmlns:a="http://schemas.openxmlformats.org/drawingml/2006/main">
          <a:graphicData uri="http://schemas.openxmlformats.org/drawingml/2006/table">
            <a:tbl>
              <a:tblPr/>
              <a:tblGrid>
                <a:gridCol w="2286000"/>
                <a:gridCol w="8667750"/>
              </a:tblGrid>
              <a:tr h="710565">
                <a:tc>
                  <a:txBody>
                    <a:bodyPr/>
                    <a:lstStyle/>
                    <a:p>
                      <a:r>
                        <a:rPr sz="2100" b="1">
                          <a:solidFill>
                            <a:srgbClr val="FFFFFF"/>
                          </a:solidFill>
                          <a:latin typeface="Arial"/>
                          <a:ea typeface="Arial"/>
                          <a:cs typeface="Arial"/>
                        </a:rPr>
                        <a:t>Time</a:t>
                      </a:r>
                    </a:p>
                  </a:txBody>
                  <a:tcPr marL="152400" marR="152400" marT="114300" marB="114300" anchor="ctr">
                    <a:solidFill>
                      <a:srgbClr val="147C61"/>
                    </a:solidFill>
                  </a:tcPr>
                </a:tc>
                <a:tc>
                  <a:txBody>
                    <a:bodyPr/>
                    <a:lstStyle/>
                    <a:p>
                      <a:r>
                        <a:rPr sz="2100" b="1">
                          <a:solidFill>
                            <a:srgbClr val="FFFFFF"/>
                          </a:solidFill>
                          <a:latin typeface="Arial"/>
                          <a:ea typeface="Arial"/>
                          <a:cs typeface="Arial"/>
                        </a:rPr>
                        <a:t>Build checkpoint</a:t>
                      </a:r>
                    </a:p>
                  </a:txBody>
                  <a:tcPr marL="152400" marR="152400" marT="114300" marB="114300" anchor="ctr">
                    <a:solidFill>
                      <a:srgbClr val="147C61"/>
                    </a:solidFill>
                  </a:tcPr>
                </a:tc>
              </a:tr>
              <a:tr h="710565">
                <a:tc>
                  <a:txBody>
                    <a:bodyPr/>
                    <a:lstStyle/>
                    <a:p>
                      <a:r>
                        <a:rPr sz="2100" b="1">
                          <a:solidFill>
                            <a:srgbClr val="152B27"/>
                          </a:solidFill>
                          <a:latin typeface="Arial"/>
                          <a:ea typeface="Arial"/>
                          <a:cs typeface="Arial"/>
                        </a:rPr>
                        <a:t>0–30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Freeze input and record a baseline</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30–90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Connect the five sponsor paths</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90–145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Repeat runs with real human feedback</a:t>
                      </a:r>
                    </a:p>
                  </a:txBody>
                  <a:tcPr marL="152400" marR="152400" marT="114300" marB="114300" anchor="ctr">
                    <a:solidFill>
                      <a:srgbClr val="F5F5EE"/>
                    </a:solidFill>
                  </a:tcPr>
                </a:tc>
              </a:tr>
              <a:tr h="710565">
                <a:tc>
                  <a:txBody>
                    <a:bodyPr/>
                    <a:lstStyle/>
                    <a:p>
                      <a:r>
                        <a:rPr sz="2100" b="1">
                          <a:solidFill>
                            <a:srgbClr val="152B27"/>
                          </a:solidFill>
                          <a:latin typeface="Arial"/>
                          <a:ea typeface="Arial"/>
                          <a:cs typeface="Arial"/>
                        </a:rPr>
                        <a:t>145–180 min</a:t>
                      </a:r>
                    </a:p>
                  </a:txBody>
                  <a:tcPr marL="152400" marR="152400" marT="114300" marB="114300" anchor="ctr">
                    <a:solidFill>
                      <a:srgbClr val="F5F5EE"/>
                    </a:solidFill>
                  </a:tcPr>
                </a:tc>
                <a:tc>
                  <a:txBody>
                    <a:bodyPr/>
                    <a:lstStyle/>
                    <a:p>
                      <a:r>
                        <a:rPr sz="2100" b="0">
                          <a:solidFill>
                            <a:srgbClr val="152B27"/>
                          </a:solidFill>
                          <a:latin typeface="Arial"/>
                          <a:ea typeface="Arial"/>
                          <a:cs typeface="Arial"/>
                        </a:rPr>
                        <a:t>Scan, capture traces and rehearse</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E32456D1-4AE8-4FEC-9D28-D4BC50A46D3B}"/>
              </a:ext>
            </a:extLst>
          </p:cNvPr>
          <p:cNvSpPr>
            <a:spLocks xmlns:a="http://schemas.openxmlformats.org/drawingml/2006/main" noGrp="1"/>
          </p:cNvSpPr>
          <p:nvPr/>
        </p:nvSpPr>
        <p:spPr>
          <a:xfrm xmlns:a="http://schemas.openxmlformats.org/drawingml/2006/main">
            <a:off x="609600" y="564832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One candidate. One digest. One application pack. One measured loop.</a:t>
            </a:r>
          </a:p>
        </p:txBody>
      </p:sp>
    </p:spTree>
    <p:extLst>
      <p:ext uri="{BB962C8B-B14F-4D97-AF65-F5344CB8AC3E}">
        <p14:creationId xmlns:p14="http://schemas.microsoft.com/office/powerpoint/2010/main" val="332011493"/>
      </p:ext>
    </p:extLst>
  </p:cSld>
</p:sld>
</file>

<file path=ppt/slides/slide10.xml><?xml version="1.0" encoding="utf-8"?>
<p:sld xmlns:p="http://schemas.openxmlformats.org/presentationml/2006/main">
  <p:cSld>
    <p:bg>
      <p:bgPr>
        <a:solidFill xmlns:a="http://schemas.openxmlformats.org/drawingml/2006/main">
          <a:srgbClr val="0D19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1193FD-5B28-4C20-A574-C85E3DC0B61A}"/>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An initial market in tech job search</a:t>
            </a:r>
          </a:p>
        </p:txBody>
      </p:sp>
      <p:sp>
        <p:nvSpPr>
          <p:cNvPr id="2" name="">
            <a:extLst xmlns:a="http://schemas.openxmlformats.org/drawingml/2006/main">
              <a:ext uri="{FF2B5EF4-FFF2-40B4-BE49-F238E27FC236}">
                <a16:creationId xmlns:a16="http://schemas.microsoft.com/office/drawing/2014/main" id="{0F778158-80E7-4AA1-9154-56265020688C}"/>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E4CD"/>
                </a:solidFill>
                <a:latin typeface="Arial"/>
                <a:ea typeface="Arial"/>
                <a:cs typeface="Arial"/>
              </a:defRPr>
            </a:pPr>
            <a:r>
              <a:rPr sz="1275" b="0">
                <a:solidFill>
                  <a:srgbClr val="B7E4C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04966AE6-E007-4F0A-8086-B82145689173}"/>
              </a:ext>
            </a:extLst>
          </p:cNvPr>
          <p:cNvSpPr>
            <a:spLocks xmlns:a="http://schemas.openxmlformats.org/drawingml/2006/main" noGrp="1"/>
          </p:cNvSpPr>
          <p:nvPr/>
        </p:nvSpPr>
        <p:spPr>
          <a:xfrm xmlns:a="http://schemas.openxmlformats.org/drawingml/2006/main">
            <a:off x="609600" y="1895475"/>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B7E4CD"/>
                </a:solidFill>
                <a:latin typeface="Arial"/>
                <a:ea typeface="Arial"/>
                <a:cs typeface="Arial"/>
              </a:defRPr>
            </a:pPr>
            <a:r>
              <a:rPr sz="8250" b="1">
                <a:solidFill>
                  <a:srgbClr val="B7E4CD"/>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91862BB-651F-466D-BDF7-24D0822BE7EE}"/>
              </a:ext>
            </a:extLst>
          </p:cNvPr>
          <p:cNvSpPr>
            <a:spLocks xmlns:a="http://schemas.openxmlformats.org/drawingml/2006/main" noGrp="1"/>
          </p:cNvSpPr>
          <p:nvPr/>
        </p:nvSpPr>
        <p:spPr>
          <a:xfrm xmlns:a="http://schemas.openxmlformats.org/drawingml/2006/main">
            <a:off x="647700" y="33623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design partners to recruit for the pilot</a:t>
            </a:r>
          </a:p>
        </p:txBody>
      </p:sp>
      <p:sp>
        <p:nvSpPr>
          <p:cNvPr id="5" name="">
            <a:extLst xmlns:a="http://schemas.openxmlformats.org/drawingml/2006/main">
              <a:ext uri="{FF2B5EF4-FFF2-40B4-BE49-F238E27FC236}">
                <a16:creationId xmlns:a16="http://schemas.microsoft.com/office/drawing/2014/main" id="{F59B5EEC-E8A8-4306-ABA2-6FB7CCCA2CAA}"/>
              </a:ext>
            </a:extLst>
          </p:cNvPr>
          <p:cNvSpPr>
            <a:spLocks xmlns:a="http://schemas.openxmlformats.org/drawingml/2006/main" noGrp="1"/>
          </p:cNvSpPr>
          <p:nvPr/>
        </p:nvSpPr>
        <p:spPr>
          <a:xfrm xmlns:a="http://schemas.openxmlformats.org/drawingml/2006/main">
            <a:off x="647700" y="4238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Developer communities and career coaches</a:t>
            </a:r>
          </a:p>
        </p:txBody>
      </p:sp>
      <p:sp>
        <p:nvSpPr>
          <p:cNvPr id="6" name="">
            <a:extLst xmlns:a="http://schemas.openxmlformats.org/drawingml/2006/main">
              <a:ext uri="{FF2B5EF4-FFF2-40B4-BE49-F238E27FC236}">
                <a16:creationId xmlns:a16="http://schemas.microsoft.com/office/drawing/2014/main" id="{5E22108F-E96B-4512-AA00-995E3F0FD51C}"/>
              </a:ext>
            </a:extLst>
          </p:cNvPr>
          <p:cNvSpPr>
            <a:spLocks xmlns:a="http://schemas.openxmlformats.org/drawingml/2006/main" noGrp="1"/>
          </p:cNvSpPr>
          <p:nvPr/>
        </p:nvSpPr>
        <p:spPr>
          <a:xfrm xmlns:a="http://schemas.openxmlformats.org/drawingml/2006/main">
            <a:off x="647700" y="48863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E4CD"/>
                </a:solidFill>
                <a:latin typeface="Arial"/>
                <a:ea typeface="Arial"/>
                <a:cs typeface="Arial"/>
              </a:defRPr>
            </a:pPr>
            <a:r>
              <a:rPr sz="2250" b="0">
                <a:solidFill>
                  <a:srgbClr val="B7E4CD"/>
                </a:solidFill>
                <a:latin typeface="Arial"/>
                <a:ea typeface="Arial"/>
                <a:cs typeface="Arial"/>
              </a:rPr>
              <a:t>Test a paid subscription during an active search</a:t>
            </a:r>
          </a:p>
        </p:txBody>
      </p:sp>
      <p:sp>
        <p:nvSpPr>
          <p:cNvPr id="7" name="">
            <a:extLst xmlns:a="http://schemas.openxmlformats.org/drawingml/2006/main">
              <a:ext uri="{FF2B5EF4-FFF2-40B4-BE49-F238E27FC236}">
                <a16:creationId xmlns:a16="http://schemas.microsoft.com/office/drawing/2014/main" id="{BF7CDCA9-510B-4797-B26F-4CB9851C0F1C}"/>
              </a:ext>
            </a:extLst>
          </p:cNvPr>
          <p:cNvSpPr>
            <a:spLocks xmlns:a="http://schemas.openxmlformats.org/drawingml/2006/main" noGrp="1"/>
          </p:cNvSpPr>
          <p:nvPr/>
        </p:nvSpPr>
        <p:spPr>
          <a:xfrm xmlns:a="http://schemas.openxmlformats.org/drawingml/2006/main">
            <a:off x="647700" y="58007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Success: less preparation time and shortlists people keep</a:t>
            </a:r>
          </a:p>
        </p:txBody>
      </p:sp>
    </p:spTree>
    <p:extLst>
      <p:ext uri="{BB962C8B-B14F-4D97-AF65-F5344CB8AC3E}">
        <p14:creationId xmlns:p14="http://schemas.microsoft.com/office/powerpoint/2010/main" val="1824284893"/>
      </p:ext>
    </p:extLst>
  </p:cSld>
</p:sld>
</file>

<file path=ppt/slides/slide11.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33608C-1DD4-4012-8EB4-AB2A78612223}"/>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Demo runbook: one visible learning cycle</a:t>
            </a:r>
          </a:p>
        </p:txBody>
      </p:sp>
      <p:sp>
        <p:nvSpPr>
          <p:cNvPr id="2" name="">
            <a:extLst xmlns:a="http://schemas.openxmlformats.org/drawingml/2006/main">
              <a:ext uri="{FF2B5EF4-FFF2-40B4-BE49-F238E27FC236}">
                <a16:creationId xmlns:a16="http://schemas.microsoft.com/office/drawing/2014/main" id="{B7FD65A4-0F65-498D-BBB5-9AC9643510C3}"/>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11</a:t>
            </a:r>
          </a:p>
        </p:txBody>
      </p:sp>
      <p:graphicFrame>
        <p:nvGraphicFramePr>
          <p:cNvPr id="7" name=""/>
          <p:cNvGraphicFramePr/>
          <p:nvPr/>
        </p:nvGraphicFramePr>
        <p:xfrm>
          <a:off xmlns:a="http://schemas.openxmlformats.org/drawingml/2006/main" x="609600" y="1638300"/>
          <a:ext xmlns:a="http://schemas.openxmlformats.org/drawingml/2006/main" cx="10953750" cy="3857625"/>
        </p:xfrm>
        <a:graphic xmlns:a="http://schemas.openxmlformats.org/drawingml/2006/main">
          <a:graphicData uri="http://schemas.openxmlformats.org/drawingml/2006/table">
            <a:tbl>
              <a:tblPr/>
              <a:tblGrid>
                <a:gridCol w="2095500"/>
                <a:gridCol w="8858250"/>
              </a:tblGrid>
              <a:tr h="642938">
                <a:tc>
                  <a:txBody>
                    <a:bodyPr/>
                    <a:lstStyle/>
                    <a:p>
                      <a:r>
                        <a:rPr sz="1875" b="1">
                          <a:solidFill>
                            <a:srgbClr val="FFFFFF"/>
                          </a:solidFill>
                          <a:latin typeface="Arial"/>
                          <a:ea typeface="Arial"/>
                          <a:cs typeface="Arial"/>
                        </a:rPr>
                        <a:t>Beat</a:t>
                      </a:r>
                    </a:p>
                  </a:txBody>
                  <a:tcPr marL="152400" marR="152400" marT="114300" marB="114300" anchor="ctr">
                    <a:solidFill>
                      <a:srgbClr val="147C61"/>
                    </a:solidFill>
                  </a:tcPr>
                </a:tc>
                <a:tc>
                  <a:txBody>
                    <a:bodyPr/>
                    <a:lstStyle/>
                    <a:p>
                      <a:r>
                        <a:rPr sz="1875" b="1">
                          <a:solidFill>
                            <a:srgbClr val="FFFFFF"/>
                          </a:solidFill>
                          <a:latin typeface="Arial"/>
                          <a:ea typeface="Arial"/>
                          <a:cs typeface="Arial"/>
                        </a:rPr>
                        <a:t>What the audience sees</a:t>
                      </a:r>
                    </a:p>
                  </a:txBody>
                  <a:tcPr marL="152400" marR="152400" marT="114300" marB="114300" anchor="ctr">
                    <a:solidFill>
                      <a:srgbClr val="147C61"/>
                    </a:solidFill>
                  </a:tcPr>
                </a:tc>
              </a:tr>
              <a:tr h="642938">
                <a:tc>
                  <a:txBody>
                    <a:bodyPr/>
                    <a:lstStyle/>
                    <a:p>
                      <a:r>
                        <a:rPr sz="1875" b="1">
                          <a:solidFill>
                            <a:srgbClr val="152B27"/>
                          </a:solidFill>
                          <a:latin typeface="Arial"/>
                          <a:ea typeface="Arial"/>
                          <a:cs typeface="Arial"/>
                        </a:rPr>
                        <a:t>Baseline</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shortlist and one supported application pack</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Feedback</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A repeated skip reason becomes a proposed rule</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Confirmation</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human approves it and the order changes</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Replay</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Known answers return, while a missing fact stays a question</a:t>
                      </a:r>
                    </a:p>
                  </a:txBody>
                  <a:tcPr marL="152400" marR="152400" marT="114300" marB="114300" anchor="ctr">
                    <a:solidFill>
                      <a:srgbClr val="F5F5EE"/>
                    </a:solidFill>
                  </a:tcPr>
                </a:tc>
              </a:tr>
              <a:tr h="642938">
                <a:tc>
                  <a:txBody>
                    <a:bodyPr/>
                    <a:lstStyle/>
                    <a:p>
                      <a:r>
                        <a:rPr sz="1875" b="1">
                          <a:solidFill>
                            <a:srgbClr val="152B27"/>
                          </a:solidFill>
                          <a:latin typeface="Arial"/>
                          <a:ea typeface="Arial"/>
                          <a:cs typeface="Arial"/>
                        </a:rPr>
                        <a:t>Proof</a:t>
                      </a:r>
                    </a:p>
                  </a:txBody>
                  <a:tcPr marL="152400" marR="152400" marT="114300" marB="114300" anchor="ctr">
                    <a:solidFill>
                      <a:srgbClr val="F5F5EE"/>
                    </a:solidFill>
                  </a:tcPr>
                </a:tc>
                <a:tc>
                  <a:txBody>
                    <a:bodyPr/>
                    <a:lstStyle/>
                    <a:p>
                      <a:r>
                        <a:rPr sz="1875" b="0">
                          <a:solidFill>
                            <a:srgbClr val="152B27"/>
                          </a:solidFill>
                          <a:latin typeface="Arial"/>
                          <a:ea typeface="Arial"/>
                          <a:cs typeface="Arial"/>
                        </a:rPr>
                        <a:t>The new run appends observed metrics</a:t>
                      </a:r>
                    </a:p>
                  </a:txBody>
                  <a:tcPr marL="152400" marR="152400" marT="114300" marB="114300" anchor="ctr">
                    <a:solidFill>
                      <a:srgbClr val="F5F5EE"/>
                    </a:solidFill>
                  </a:tcPr>
                </a:tc>
              </a:tr>
            </a:tbl>
          </a:graphicData>
        </a:graphic>
      </p:graphicFrame>
      <p:sp>
        <p:nvSpPr>
          <p:cNvPr id="4" name="">
            <a:extLst xmlns:a="http://schemas.openxmlformats.org/drawingml/2006/main">
              <a:ext uri="{FF2B5EF4-FFF2-40B4-BE49-F238E27FC236}">
                <a16:creationId xmlns:a16="http://schemas.microsoft.com/office/drawing/2014/main" id="{569361C3-D27D-43A6-8C2C-BA549CAA8EF1}"/>
              </a:ext>
            </a:extLst>
          </p:cNvPr>
          <p:cNvSpPr>
            <a:spLocks xmlns:a="http://schemas.openxmlformats.org/drawingml/2006/main" noGrp="1"/>
          </p:cNvSpPr>
          <p:nvPr/>
        </p:nvSpPr>
        <p:spPr>
          <a:xfrm xmlns:a="http://schemas.openxmlformats.org/drawingml/2006/main">
            <a:off x="609600" y="57816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C61"/>
                </a:solidFill>
                <a:latin typeface="Arial"/>
                <a:ea typeface="Arial"/>
                <a:cs typeface="Arial"/>
              </a:defRPr>
            </a:pPr>
            <a:r>
              <a:rPr sz="2175" b="1">
                <a:solidFill>
                  <a:srgbClr val="147C61"/>
                </a:solidFill>
                <a:latin typeface="Arial"/>
                <a:ea typeface="Arial"/>
                <a:cs typeface="Arial"/>
              </a:rPr>
              <a:t>Real jobs. Assigned release days. Actual run measurements.</a:t>
            </a:r>
          </a:p>
        </p:txBody>
      </p:sp>
    </p:spTree>
    <p:extLst>
      <p:ext uri="{BB962C8B-B14F-4D97-AF65-F5344CB8AC3E}">
        <p14:creationId xmlns:p14="http://schemas.microsoft.com/office/powerpoint/2010/main" val="1716126513"/>
      </p:ext>
    </p:extLst>
  </p:cSld>
</p:sld>
</file>

<file path=ppt/slides/slide1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D382B63-16D8-4E5A-8933-8785DC8279E2}"/>
              </a:ext>
            </a:extLst>
          </p:cNvPr>
          <p:cNvSpPr>
            <a:spLocks xmlns:a="http://schemas.openxmlformats.org/drawingml/2006/main" noGrp="1"/>
          </p:cNvSpPr>
          <p:nvPr/>
        </p:nvSpPr>
        <p:spPr>
          <a:xfrm xmlns:a="http://schemas.openxmlformats.org/drawingml/2006/main">
            <a:off x="609600" y="4476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B27"/>
                </a:solidFill>
                <a:latin typeface="Arial"/>
                <a:ea typeface="Arial"/>
                <a:cs typeface="Arial"/>
              </a:defRPr>
            </a:pPr>
            <a:r>
              <a:rPr sz="3450" b="1">
                <a:solidFill>
                  <a:srgbClr val="152B27"/>
                </a:solidFill>
                <a:latin typeface="Arial"/>
                <a:ea typeface="Arial"/>
                <a:cs typeface="Arial"/>
              </a:rPr>
              <a:t>Technical boundaries and judging checks</a:t>
            </a:r>
          </a:p>
        </p:txBody>
      </p:sp>
      <p:sp>
        <p:nvSpPr>
          <p:cNvPr id="2" name="">
            <a:extLst xmlns:a="http://schemas.openxmlformats.org/drawingml/2006/main">
              <a:ext uri="{FF2B5EF4-FFF2-40B4-BE49-F238E27FC236}">
                <a16:creationId xmlns:a16="http://schemas.microsoft.com/office/drawing/2014/main" id="{08E2B493-DA80-45BE-9B08-99F5030FE362}"/>
              </a:ext>
            </a:extLst>
          </p:cNvPr>
          <p:cNvSpPr>
            <a:spLocks xmlns:a="http://schemas.openxmlformats.org/drawingml/2006/main" noGrp="1"/>
          </p:cNvSpPr>
          <p:nvPr/>
        </p:nvSpPr>
        <p:spPr>
          <a:xfrm xmlns:a="http://schemas.openxmlformats.org/drawingml/2006/main">
            <a:off x="9525000" y="63436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5E"/>
                </a:solidFill>
                <a:latin typeface="Arial"/>
                <a:ea typeface="Arial"/>
                <a:cs typeface="Arial"/>
              </a:defRPr>
            </a:pPr>
            <a:r>
              <a:rPr sz="1275" b="0">
                <a:solidFill>
                  <a:srgbClr val="52645E"/>
                </a:solidFill>
                <a:latin typeface="Arial"/>
                <a:ea typeface="Arial"/>
                <a:cs typeface="Arial"/>
              </a:rPr>
              <a:t>APPENDIX  12</a:t>
            </a:r>
          </a:p>
        </p:txBody>
      </p:sp>
      <p:graphicFrame>
        <p:nvGraphicFramePr>
          <p:cNvPr id="6" name=""/>
          <p:cNvGraphicFramePr/>
          <p:nvPr/>
        </p:nvGraphicFramePr>
        <p:xfrm>
          <a:off xmlns:a="http://schemas.openxmlformats.org/drawingml/2006/main" x="609600" y="1581150"/>
          <a:ext xmlns:a="http://schemas.openxmlformats.org/drawingml/2006/main" cx="10953750" cy="4114800"/>
        </p:xfrm>
        <a:graphic xmlns:a="http://schemas.openxmlformats.org/drawingml/2006/main">
          <a:graphicData uri="http://schemas.openxmlformats.org/drawingml/2006/table">
            <a:tbl>
              <a:tblPr/>
              <a:tblGrid>
                <a:gridCol w="2571750"/>
                <a:gridCol w="8382000"/>
              </a:tblGrid>
              <a:tr h="685800">
                <a:tc>
                  <a:txBody>
                    <a:bodyPr/>
                    <a:lstStyle/>
                    <a:p>
                      <a:r>
                        <a:rPr sz="1800" b="1">
                          <a:solidFill>
                            <a:srgbClr val="FFFFFF"/>
                          </a:solidFill>
                          <a:latin typeface="Arial"/>
                          <a:ea typeface="Arial"/>
                          <a:cs typeface="Arial"/>
                        </a:rPr>
                        <a:t>Boundary</a:t>
                      </a:r>
                    </a:p>
                  </a:txBody>
                  <a:tcPr marL="152400" marR="152400" marT="114300" marB="114300" anchor="ctr">
                    <a:solidFill>
                      <a:srgbClr val="147C61"/>
                    </a:solidFill>
                  </a:tcPr>
                </a:tc>
                <a:tc>
                  <a:txBody>
                    <a:bodyPr/>
                    <a:lstStyle/>
                    <a:p>
                      <a:r>
                        <a:rPr sz="1800" b="1">
                          <a:solidFill>
                            <a:srgbClr val="FFFFFF"/>
                          </a:solidFill>
                          <a:latin typeface="Arial"/>
                          <a:ea typeface="Arial"/>
                          <a:cs typeface="Arial"/>
                        </a:rPr>
                        <a:t>What we say and show</a:t>
                      </a:r>
                    </a:p>
                  </a:txBody>
                  <a:tcPr marL="152400" marR="152400" marT="114300" marB="114300" anchor="ctr">
                    <a:solidFill>
                      <a:srgbClr val="147C61"/>
                    </a:solidFill>
                  </a:tcPr>
                </a:tc>
              </a:tr>
              <a:tr h="685800">
                <a:tc>
                  <a:txBody>
                    <a:bodyPr/>
                    <a:lstStyle/>
                    <a:p>
                      <a:r>
                        <a:rPr sz="1800" b="1">
                          <a:solidFill>
                            <a:srgbClr val="152B27"/>
                          </a:solidFill>
                          <a:latin typeface="Arial"/>
                          <a:ea typeface="Arial"/>
                          <a:cs typeface="Arial"/>
                        </a:rPr>
                        <a:t>Data freshness</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Live online collection; fetch timestamps retained</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Graph execution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Cloud persistence; optional Bolt for server-side Cypher</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Sponsor integration</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Repeated live traces, not SDK imports or offline tests</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Security</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Snyk report, cited claims and human submission</a:t>
                      </a:r>
                    </a:p>
                  </a:txBody>
                  <a:tcPr marL="152400" marR="152400" marT="114300" marB="114300" anchor="ctr">
                    <a:solidFill>
                      <a:srgbClr val="F5F5EE"/>
                    </a:solidFill>
                  </a:tcPr>
                </a:tc>
              </a:tr>
              <a:tr h="685800">
                <a:tc>
                  <a:txBody>
                    <a:bodyPr/>
                    <a:lstStyle/>
                    <a:p>
                      <a:r>
                        <a:rPr sz="1800" b="1">
                          <a:solidFill>
                            <a:srgbClr val="152B27"/>
                          </a:solidFill>
                          <a:latin typeface="Arial"/>
                          <a:ea typeface="Arial"/>
                          <a:cs typeface="Arial"/>
                        </a:rPr>
                        <a:t>Network</a:t>
                      </a:r>
                    </a:p>
                  </a:txBody>
                  <a:tcPr marL="152400" marR="152400" marT="114300" marB="114300" anchor="ctr">
                    <a:solidFill>
                      <a:srgbClr val="F5F5EE"/>
                    </a:solidFill>
                  </a:tcPr>
                </a:tc>
                <a:tc>
                  <a:txBody>
                    <a:bodyPr/>
                    <a:lstStyle/>
                    <a:p>
                      <a:r>
                        <a:rPr sz="1800" b="0">
                          <a:solidFill>
                            <a:srgbClr val="152B27"/>
                          </a:solidFill>
                          <a:latin typeface="Arial"/>
                          <a:ea typeface="Arial"/>
                          <a:cs typeface="Arial"/>
                        </a:rPr>
                        <a:t>No board fetch on stage; cloud tools still need connectivity</a:t>
                      </a:r>
                    </a:p>
                  </a:txBody>
                  <a:tcPr marL="152400" marR="152400" marT="114300" marB="114300" anchor="ctr">
                    <a:solidFill>
                      <a:srgbClr val="F5F5EE"/>
                    </a:solidFill>
                  </a:tcPr>
                </a:tc>
              </a:tr>
            </a:tbl>
          </a:graphicData>
        </a:graphic>
      </p:graphicFrame>
    </p:spTree>
    <p:extLst>
      <p:ext uri="{BB962C8B-B14F-4D97-AF65-F5344CB8AC3E}">
        <p14:creationId xmlns:p14="http://schemas.microsoft.com/office/powerpoint/2010/main" val="230659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2026-09-11T21:21:42.9440000Z</dcterms:created>
  <dcterms:modified xsi:type="dcterms:W3CDTF">2026-09-11T21:21:42.9440000Z</dcterms:modified>
</coreProperties>
</file>